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AI agents write Solana code from months-old training data. solctx is an MCP server that gives any agent live devnet context - and keeps its own docs honest as the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models guess from stale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tools: live chain state, docs search, runnable examples, program addresses, doc-sync status. No keys required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1 thesis: the repo is the product repository Track watches; code changes draft doc PRs.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ship code, Track drafts a doc PR, human reviews, site updates. This is the centerpiece.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5 tools live, 0 keys, live site, fresh-clone build and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Rigor: 9 reproducible bugs found and fixed - a blank env crashing new URL, a Windows lockfile breaking Linux npm ci, a runtime importing a module it doesn't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MCP stdio, hybrid docs search, cached chain reads, self-syncing Thally docs on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reliable agents need live, self-verifying context; docs and agent-context stay one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 live MCP server, a live docs site, a working code-to-docs sync, and a platform report. That's solctx.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7955280" y="-2377440"/>
            <a:ext cx="5669280" cy="5669280"/>
          </a:xfrm>
          <a:prstGeom prst="ellipse">
            <a:avLst/>
          </a:prstGeom>
          <a:solidFill>
            <a:srgbClr val="17E59A">
              <a:alpha val="10000"/>
            </a:srgbClr>
          </a:solidFill>
          <a:ln/>
        </p:spPr>
      </p:sp>
      <p:sp>
        <p:nvSpPr>
          <p:cNvPr id="3" name="Shape 1"/>
          <p:cNvSpPr/>
          <p:nvPr/>
        </p:nvSpPr>
        <p:spPr>
          <a:xfrm>
            <a:off x="-2194560" y="3291840"/>
            <a:ext cx="5120640" cy="5120640"/>
          </a:xfrm>
          <a:prstGeom prst="ellipse">
            <a:avLst/>
          </a:prstGeom>
          <a:solidFill>
            <a:srgbClr val="A06BFF">
              <a:alpha val="10000"/>
            </a:srgbClr>
          </a:solidFill>
          <a:ln/>
        </p:spPr>
      </p:sp>
      <p:sp>
        <p:nvSpPr>
          <p:cNvPr id="4" name="Text 2"/>
          <p:cNvSpPr txBox="1"/>
          <p:nvPr/>
        </p:nvSpPr>
        <p:spPr>
          <a:xfrm>
            <a:off x="685800" y="1371600"/>
            <a:ext cx="9144000" cy="320040"/>
          </a:xfrm>
          <a:prstGeom prst="rect">
            <a:avLst/>
          </a:prstGeom>
          <a:noFill/>
          <a:ln/>
        </p:spPr>
        <p:txBody>
          <a:bodyPr wrap="square" lIns="0" tIns="0" rIns="0" bIns="0" rtlCol="0" anchor="ctr"/>
          <a:lstStyle/>
          <a:p>
            <a:pPr indent="0" marL="0">
              <a:buNone/>
            </a:pPr>
            <a:r>
              <a:rPr lang="en-US" sz="1250" spc="300" kern="0" dirty="0">
                <a:solidFill>
                  <a:srgbClr val="A06BFF"/>
                </a:solidFill>
                <a:latin typeface="Courier New" pitchFamily="34" charset="0"/>
                <a:ea typeface="Courier New" pitchFamily="34" charset="-122"/>
                <a:cs typeface="Courier New" pitchFamily="34" charset="-120"/>
              </a:rPr>
              <a:t>THALLY SYNC HACKATHON  ·  TRACK 1</a:t>
            </a:r>
            <a:endParaRPr lang="en-US" sz="1250" dirty="0"/>
          </a:p>
        </p:txBody>
      </p:sp>
      <p:sp>
        <p:nvSpPr>
          <p:cNvPr id="5" name="Text 3"/>
          <p:cNvSpPr txBox="1"/>
          <p:nvPr/>
        </p:nvSpPr>
        <p:spPr>
          <a:xfrm>
            <a:off x="685800" y="1783080"/>
            <a:ext cx="10058400" cy="1554480"/>
          </a:xfrm>
          <a:prstGeom prst="rect">
            <a:avLst/>
          </a:prstGeom>
          <a:noFill/>
          <a:ln/>
        </p:spPr>
        <p:txBody>
          <a:bodyPr wrap="square" lIns="0" tIns="0" rIns="0" bIns="0" rtlCol="0" anchor="ctr"/>
          <a:lstStyle/>
          <a:p>
            <a:pPr indent="0" marL="0">
              <a:buNone/>
            </a:pPr>
            <a:r>
              <a:rPr lang="en-US" sz="9600" b="1" dirty="0">
                <a:solidFill>
                  <a:srgbClr val="F3F3F8"/>
                </a:solidFill>
                <a:latin typeface="Calibri" pitchFamily="34" charset="0"/>
                <a:ea typeface="Calibri" pitchFamily="34" charset="-122"/>
                <a:cs typeface="Calibri" pitchFamily="34" charset="-120"/>
              </a:rPr>
              <a:t>solctx</a:t>
            </a:r>
            <a:endParaRPr lang="en-US" sz="9600" dirty="0"/>
          </a:p>
        </p:txBody>
      </p:sp>
      <p:sp>
        <p:nvSpPr>
          <p:cNvPr id="6" name="Text 4"/>
          <p:cNvSpPr txBox="1"/>
          <p:nvPr/>
        </p:nvSpPr>
        <p:spPr>
          <a:xfrm>
            <a:off x="685800" y="3429000"/>
            <a:ext cx="8778240" cy="1005840"/>
          </a:xfrm>
          <a:prstGeom prst="rect">
            <a:avLst/>
          </a:prstGeom>
          <a:noFill/>
          <a:ln/>
        </p:spPr>
        <p:txBody>
          <a:bodyPr wrap="square" lIns="0" tIns="0" rIns="0" bIns="0" rtlCol="0" anchor="ctr"/>
          <a:lstStyle/>
          <a:p>
            <a:pPr indent="0" marL="0">
              <a:lnSpc>
                <a:spcPct val="115000"/>
              </a:lnSpc>
              <a:buNone/>
            </a:pPr>
            <a:r>
              <a:rPr lang="en-US" sz="2000" b="1" dirty="0">
                <a:solidFill>
                  <a:srgbClr val="F3F3F8"/>
                </a:solidFill>
                <a:latin typeface="Calibri" pitchFamily="34" charset="0"/>
                <a:ea typeface="Calibri" pitchFamily="34" charset="-122"/>
                <a:cs typeface="Calibri" pitchFamily="34" charset="-120"/>
              </a:rPr>
              <a:t>Live, structured Solana devnet context for AI coding agents</a:t>
            </a:r>
            <a:pPr indent="0" marL="0">
              <a:lnSpc>
                <a:spcPct val="115000"/>
              </a:lnSpc>
              <a:buNone/>
            </a:pPr>
            <a:r>
              <a:rPr lang="en-US" sz="2000" dirty="0">
                <a:solidFill>
                  <a:srgbClr val="A2A2B6"/>
                </a:solidFill>
                <a:latin typeface="Calibri" pitchFamily="34" charset="0"/>
                <a:ea typeface="Calibri" pitchFamily="34" charset="-122"/>
                <a:cs typeface="Calibri" pitchFamily="34" charset="-120"/>
              </a:rPr>
              <a:t> — served over MCP, with docs that keep themselves in sync with the code.</a:t>
            </a:r>
            <a:endParaRPr lang="en-US" sz="2000" dirty="0"/>
          </a:p>
        </p:txBody>
      </p:sp>
      <p:sp>
        <p:nvSpPr>
          <p:cNvPr id="7" name="Text 5"/>
          <p:cNvSpPr txBox="1"/>
          <p:nvPr/>
        </p:nvSpPr>
        <p:spPr>
          <a:xfrm>
            <a:off x="685800" y="5806440"/>
            <a:ext cx="9144000" cy="365760"/>
          </a:xfrm>
          <a:prstGeom prst="rect">
            <a:avLst/>
          </a:prstGeom>
          <a:noFill/>
          <a:ln/>
        </p:spPr>
        <p:txBody>
          <a:bodyPr wrap="square" lIns="0" tIns="0" rIns="0" bIns="0" rtlCol="0" anchor="ctr"/>
          <a:lstStyle/>
          <a:p>
            <a:pPr indent="0" marL="0">
              <a:buNone/>
            </a:pPr>
            <a:r>
              <a:rPr lang="en-US" sz="1600" b="1" dirty="0">
                <a:solidFill>
                  <a:srgbClr val="F3F3F8"/>
                </a:solidFill>
                <a:latin typeface="Calibri" pitchFamily="34" charset="0"/>
                <a:ea typeface="Calibri" pitchFamily="34" charset="-122"/>
                <a:cs typeface="Calibri" pitchFamily="34" charset="-120"/>
              </a:rPr>
              <a:t>DEMILADE AYEKU</a:t>
            </a:r>
            <a:pPr indent="0" marL="0">
              <a:buNone/>
            </a:pPr>
            <a:r>
              <a:rPr lang="en-US" sz="1300" dirty="0">
                <a:solidFill>
                  <a:srgbClr val="17E59A"/>
                </a:solidFill>
                <a:latin typeface="Courier New" pitchFamily="34" charset="0"/>
                <a:ea typeface="Courier New" pitchFamily="34" charset="-122"/>
                <a:cs typeface="Courier New" pitchFamily="34" charset="-120"/>
              </a:rPr>
              <a:t>   FULLSTACK / DEVREL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02</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685800" y="877824"/>
            <a:ext cx="292608" cy="25603"/>
          </a:xfrm>
          <a:prstGeom prst="rect">
            <a:avLst/>
          </a:prstGeom>
          <a:solidFill>
            <a:srgbClr val="17E59A"/>
          </a:solidFill>
          <a:ln/>
        </p:spPr>
      </p:sp>
      <p:sp>
        <p:nvSpPr>
          <p:cNvPr id="4" name="Text 2"/>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THE PROBLEM</a:t>
            </a:r>
            <a:endParaRPr lang="en-US" sz="1200" dirty="0"/>
          </a:p>
        </p:txBody>
      </p:sp>
      <p:sp>
        <p:nvSpPr>
          <p:cNvPr id="5" name="Text 3"/>
          <p:cNvSpPr txBox="1"/>
          <p:nvPr/>
        </p:nvSpPr>
        <p:spPr>
          <a:xfrm>
            <a:off x="685800" y="1554480"/>
            <a:ext cx="10515600" cy="1828800"/>
          </a:xfrm>
          <a:prstGeom prst="rect">
            <a:avLst/>
          </a:prstGeom>
          <a:noFill/>
          <a:ln/>
        </p:spPr>
        <p:txBody>
          <a:bodyPr wrap="square" lIns="0" tIns="0" rIns="0" bIns="0" rtlCol="0" anchor="ctr"/>
          <a:lstStyle/>
          <a:p>
            <a:pPr indent="0" marL="0">
              <a:lnSpc>
                <a:spcPct val="100000"/>
              </a:lnSpc>
              <a:buNone/>
            </a:pPr>
            <a:r>
              <a:rPr lang="en-US" sz="5200" b="1" dirty="0">
                <a:solidFill>
                  <a:srgbClr val="F3F3F8"/>
                </a:solidFill>
                <a:latin typeface="Calibri" pitchFamily="34" charset="0"/>
                <a:ea typeface="Calibri" pitchFamily="34" charset="-122"/>
                <a:cs typeface="Calibri" pitchFamily="34" charset="-120"/>
              </a:rPr>
              <a:t>Agents write Solana code</a:t>
            </a:r>
            <a:endParaRPr lang="en-US" sz="5200" dirty="0"/>
          </a:p>
          <a:p>
            <a:pPr indent="0" marL="0">
              <a:lnSpc>
                <a:spcPct val="100000"/>
              </a:lnSpc>
              <a:buNone/>
            </a:pPr>
            <a:r>
              <a:rPr lang="en-US" sz="5200" b="1" dirty="0">
                <a:solidFill>
                  <a:srgbClr val="F3F3F8"/>
                </a:solidFill>
                <a:latin typeface="Calibri" pitchFamily="34" charset="0"/>
                <a:ea typeface="Calibri" pitchFamily="34" charset="-122"/>
                <a:cs typeface="Calibri" pitchFamily="34" charset="-120"/>
              </a:rPr>
              <a:t>from </a:t>
            </a:r>
            <a:endParaRPr lang="en-US" sz="5200" dirty="0"/>
          </a:p>
          <a:p>
            <a:pPr indent="0" marL="0">
              <a:lnSpc>
                <a:spcPct val="100000"/>
              </a:lnSpc>
              <a:buNone/>
            </a:pPr>
            <a:r>
              <a:rPr lang="en-US" sz="5200" b="1" dirty="0">
                <a:solidFill>
                  <a:srgbClr val="17E59A"/>
                </a:solidFill>
                <a:latin typeface="Calibri" pitchFamily="34" charset="0"/>
                <a:ea typeface="Calibri" pitchFamily="34" charset="-122"/>
                <a:cs typeface="Calibri" pitchFamily="34" charset="-120"/>
              </a:rPr>
              <a:t>stale memory.</a:t>
            </a:r>
            <a:endParaRPr lang="en-US" sz="5200" dirty="0"/>
          </a:p>
        </p:txBody>
      </p:sp>
      <p:sp>
        <p:nvSpPr>
          <p:cNvPr id="6" name="Text 4"/>
          <p:cNvSpPr txBox="1"/>
          <p:nvPr/>
        </p:nvSpPr>
        <p:spPr>
          <a:xfrm>
            <a:off x="685800" y="3657600"/>
            <a:ext cx="8961120" cy="1280160"/>
          </a:xfrm>
          <a:prstGeom prst="rect">
            <a:avLst/>
          </a:prstGeom>
          <a:noFill/>
          <a:ln/>
        </p:spPr>
        <p:txBody>
          <a:bodyPr wrap="square" lIns="0" tIns="0" rIns="0" bIns="0" rtlCol="0" anchor="ctr"/>
          <a:lstStyle/>
          <a:p>
            <a:pPr indent="0" marL="0">
              <a:lnSpc>
                <a:spcPct val="120000"/>
              </a:lnSpc>
              <a:buNone/>
            </a:pPr>
            <a:r>
              <a:rPr lang="en-US" sz="1900" dirty="0">
                <a:solidFill>
                  <a:srgbClr val="A2A2B6"/>
                </a:solidFill>
                <a:latin typeface="Calibri" pitchFamily="34" charset="0"/>
                <a:ea typeface="Calibri" pitchFamily="34" charset="-122"/>
                <a:cs typeface="Calibri" pitchFamily="34" charset="-120"/>
              </a:rPr>
              <a:t>An AI assistant guessing at program IDs, RPC methods, and current chain state is guessing from training data that's months old. It hallucinates addresses, uses deprecated calls, and can't see the network as it is right now.</a:t>
            </a:r>
            <a:endParaRPr lang="en-US" sz="1900" dirty="0"/>
          </a:p>
        </p:txBody>
      </p:sp>
      <p:sp>
        <p:nvSpPr>
          <p:cNvPr id="7" name="Text 5"/>
          <p:cNvSpPr txBox="1"/>
          <p:nvPr/>
        </p:nvSpPr>
        <p:spPr>
          <a:xfrm>
            <a:off x="685800" y="5212080"/>
            <a:ext cx="10058400" cy="365760"/>
          </a:xfrm>
          <a:prstGeom prst="rect">
            <a:avLst/>
          </a:prstGeom>
          <a:noFill/>
          <a:ln/>
        </p:spPr>
        <p:txBody>
          <a:bodyPr wrap="square" lIns="0" tIns="0" rIns="0" bIns="0" rtlCol="0" anchor="ctr"/>
          <a:lstStyle/>
          <a:p>
            <a:pPr indent="0" marL="0">
              <a:buNone/>
            </a:pPr>
            <a:r>
              <a:rPr lang="en-US" sz="1400" dirty="0">
                <a:solidFill>
                  <a:srgbClr val="6F6F86"/>
                </a:solidFill>
                <a:latin typeface="Courier New" pitchFamily="34" charset="0"/>
                <a:ea typeface="Courier New" pitchFamily="34" charset="-122"/>
                <a:cs typeface="Courier New" pitchFamily="34" charset="-120"/>
              </a:rPr>
              <a:t>// The fix isn't a better prompt. It's live, structured context on demand.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03</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685800" y="877824"/>
            <a:ext cx="292608" cy="25603"/>
          </a:xfrm>
          <a:prstGeom prst="rect">
            <a:avLst/>
          </a:prstGeom>
          <a:solidFill>
            <a:srgbClr val="17E59A"/>
          </a:solidFill>
          <a:ln/>
        </p:spPr>
      </p:sp>
      <p:sp>
        <p:nvSpPr>
          <p:cNvPr id="4" name="Text 2"/>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THE SOLUTION</a:t>
            </a:r>
            <a:endParaRPr lang="en-US" sz="1200" dirty="0"/>
          </a:p>
        </p:txBody>
      </p:sp>
      <p:sp>
        <p:nvSpPr>
          <p:cNvPr id="5" name="Text 3"/>
          <p:cNvSpPr txBox="1"/>
          <p:nvPr/>
        </p:nvSpPr>
        <p:spPr>
          <a:xfrm>
            <a:off x="685800" y="1234440"/>
            <a:ext cx="10607040" cy="822960"/>
          </a:xfrm>
          <a:prstGeom prst="rect">
            <a:avLst/>
          </a:prstGeom>
          <a:noFill/>
          <a:ln/>
        </p:spPr>
        <p:txBody>
          <a:bodyPr wrap="square" lIns="0" tIns="0" rIns="0" bIns="0" rtlCol="0" anchor="ctr"/>
          <a:lstStyle/>
          <a:p>
            <a:pPr indent="0" marL="0">
              <a:buNone/>
            </a:pPr>
            <a:r>
              <a:rPr lang="en-US" sz="3800" b="1" dirty="0">
                <a:solidFill>
                  <a:srgbClr val="F3F3F8"/>
                </a:solidFill>
                <a:latin typeface="Calibri" pitchFamily="34" charset="0"/>
                <a:ea typeface="Calibri" pitchFamily="34" charset="-122"/>
                <a:cs typeface="Calibri" pitchFamily="34" charset="-120"/>
              </a:rPr>
              <a:t>Five focused tools any MCP client can call.</a:t>
            </a:r>
            <a:endParaRPr lang="en-US" sz="3800" dirty="0"/>
          </a:p>
        </p:txBody>
      </p:sp>
      <p:sp>
        <p:nvSpPr>
          <p:cNvPr id="6" name="Text 4"/>
          <p:cNvSpPr txBox="1"/>
          <p:nvPr/>
        </p:nvSpPr>
        <p:spPr>
          <a:xfrm>
            <a:off x="685800" y="2057400"/>
            <a:ext cx="10424160" cy="502920"/>
          </a:xfrm>
          <a:prstGeom prst="rect">
            <a:avLst/>
          </a:prstGeom>
          <a:noFill/>
          <a:ln/>
        </p:spPr>
        <p:txBody>
          <a:bodyPr wrap="square" lIns="0" tIns="0" rIns="0" bIns="0" rtlCol="0" anchor="ctr"/>
          <a:lstStyle/>
          <a:p>
            <a:pPr indent="0" marL="0">
              <a:buNone/>
            </a:pPr>
            <a:r>
              <a:rPr lang="en-US" sz="1600" dirty="0">
                <a:solidFill>
                  <a:srgbClr val="A2A2B6"/>
                </a:solidFill>
                <a:latin typeface="Calibri" pitchFamily="34" charset="0"/>
                <a:ea typeface="Calibri" pitchFamily="34" charset="-122"/>
                <a:cs typeface="Calibri" pitchFamily="34" charset="-120"/>
              </a:rPr>
              <a:t>solctx is a Model Context Protocol server. Any MCP agent gets first-class Solana devnet access — </a:t>
            </a:r>
            <a:pPr indent="0" marL="0">
              <a:buNone/>
            </a:pPr>
            <a:r>
              <a:rPr lang="en-US" sz="1600" b="1" dirty="0">
                <a:solidFill>
                  <a:srgbClr val="F3F3F8"/>
                </a:solidFill>
                <a:latin typeface="Calibri" pitchFamily="34" charset="0"/>
                <a:ea typeface="Calibri" pitchFamily="34" charset="-122"/>
                <a:cs typeface="Calibri" pitchFamily="34" charset="-120"/>
              </a:rPr>
              <a:t>no API keys required</a:t>
            </a:r>
            <a:pPr indent="0" marL="0">
              <a:buNone/>
            </a:pPr>
            <a:r>
              <a:rPr lang="en-US" sz="1600" dirty="0">
                <a:solidFill>
                  <a:srgbClr val="A2A2B6"/>
                </a:solidFill>
                <a:latin typeface="Calibri" pitchFamily="34" charset="0"/>
                <a:ea typeface="Calibri" pitchFamily="34" charset="-122"/>
                <a:cs typeface="Calibri" pitchFamily="34" charset="-120"/>
              </a:rPr>
              <a:t> to run.</a:t>
            </a:r>
            <a:endParaRPr lang="en-US" sz="1600" dirty="0"/>
          </a:p>
        </p:txBody>
      </p:sp>
      <p:sp>
        <p:nvSpPr>
          <p:cNvPr id="7" name="Shape 5"/>
          <p:cNvSpPr/>
          <p:nvPr/>
        </p:nvSpPr>
        <p:spPr>
          <a:xfrm>
            <a:off x="736092" y="2788920"/>
            <a:ext cx="3383280" cy="1481328"/>
          </a:xfrm>
          <a:prstGeom prst="roundRect">
            <a:avLst>
              <a:gd name="adj" fmla="val 5556"/>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8" name="Text 6"/>
          <p:cNvSpPr txBox="1"/>
          <p:nvPr/>
        </p:nvSpPr>
        <p:spPr>
          <a:xfrm>
            <a:off x="937260" y="2953512"/>
            <a:ext cx="2980944" cy="320040"/>
          </a:xfrm>
          <a:prstGeom prst="rect">
            <a:avLst/>
          </a:prstGeom>
          <a:noFill/>
          <a:ln/>
        </p:spPr>
        <p:txBody>
          <a:bodyPr wrap="square" lIns="0" tIns="0" rIns="0" bIns="0" rtlCol="0" anchor="ctr"/>
          <a:lstStyle/>
          <a:p>
            <a:pPr indent="0" marL="0">
              <a:buNone/>
            </a:pPr>
            <a:r>
              <a:rPr lang="en-US" sz="1350" b="1" dirty="0">
                <a:solidFill>
                  <a:srgbClr val="17E59A"/>
                </a:solidFill>
                <a:latin typeface="Courier New" pitchFamily="34" charset="0"/>
                <a:ea typeface="Courier New" pitchFamily="34" charset="-122"/>
                <a:cs typeface="Courier New" pitchFamily="34" charset="-120"/>
              </a:rPr>
              <a:t>get_chain_state</a:t>
            </a:r>
            <a:endParaRPr lang="en-US" sz="1350" dirty="0"/>
          </a:p>
        </p:txBody>
      </p:sp>
      <p:sp>
        <p:nvSpPr>
          <p:cNvPr id="9" name="Text 7"/>
          <p:cNvSpPr txBox="1"/>
          <p:nvPr/>
        </p:nvSpPr>
        <p:spPr>
          <a:xfrm>
            <a:off x="937260" y="3319272"/>
            <a:ext cx="2980944" cy="822960"/>
          </a:xfrm>
          <a:prstGeom prst="rect">
            <a:avLst/>
          </a:prstGeom>
          <a:noFill/>
          <a:ln/>
        </p:spPr>
        <p:txBody>
          <a:bodyPr wrap="square" lIns="0" tIns="0" rIns="0" bIns="0" rtlCol="0" anchor="t"/>
          <a:lstStyle/>
          <a:p>
            <a:pPr indent="0" marL="0">
              <a:lnSpc>
                <a:spcPct val="112000"/>
              </a:lnSpc>
              <a:buNone/>
            </a:pPr>
            <a:r>
              <a:rPr lang="en-US" sz="1200" dirty="0">
                <a:solidFill>
                  <a:srgbClr val="A2A2B6"/>
                </a:solidFill>
                <a:latin typeface="Calibri" pitchFamily="34" charset="0"/>
                <a:ea typeface="Calibri" pitchFamily="34" charset="-122"/>
                <a:cs typeface="Calibri" pitchFamily="34" charset="-120"/>
              </a:rPr>
              <a:t>Live devnet reads: slot, epoch, block height, priority fee, SOL supply, network status — cached 5s.</a:t>
            </a:r>
            <a:endParaRPr lang="en-US" sz="1200" dirty="0"/>
          </a:p>
        </p:txBody>
      </p:sp>
      <p:sp>
        <p:nvSpPr>
          <p:cNvPr id="10" name="Shape 8"/>
          <p:cNvSpPr/>
          <p:nvPr/>
        </p:nvSpPr>
        <p:spPr>
          <a:xfrm>
            <a:off x="4402836" y="2788920"/>
            <a:ext cx="3383280" cy="1481328"/>
          </a:xfrm>
          <a:prstGeom prst="roundRect">
            <a:avLst>
              <a:gd name="adj" fmla="val 5556"/>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1" name="Text 9"/>
          <p:cNvSpPr txBox="1"/>
          <p:nvPr/>
        </p:nvSpPr>
        <p:spPr>
          <a:xfrm>
            <a:off x="4604004" y="2953512"/>
            <a:ext cx="2980944" cy="320040"/>
          </a:xfrm>
          <a:prstGeom prst="rect">
            <a:avLst/>
          </a:prstGeom>
          <a:noFill/>
          <a:ln/>
        </p:spPr>
        <p:txBody>
          <a:bodyPr wrap="square" lIns="0" tIns="0" rIns="0" bIns="0" rtlCol="0" anchor="ctr"/>
          <a:lstStyle/>
          <a:p>
            <a:pPr indent="0" marL="0">
              <a:buNone/>
            </a:pPr>
            <a:r>
              <a:rPr lang="en-US" sz="1350" b="1" dirty="0">
                <a:solidFill>
                  <a:srgbClr val="17E59A"/>
                </a:solidFill>
                <a:latin typeface="Courier New" pitchFamily="34" charset="0"/>
                <a:ea typeface="Courier New" pitchFamily="34" charset="-122"/>
                <a:cs typeface="Courier New" pitchFamily="34" charset="-120"/>
              </a:rPr>
              <a:t>get_docs</a:t>
            </a:r>
            <a:endParaRPr lang="en-US" sz="1350" dirty="0"/>
          </a:p>
        </p:txBody>
      </p:sp>
      <p:sp>
        <p:nvSpPr>
          <p:cNvPr id="12" name="Text 10"/>
          <p:cNvSpPr txBox="1"/>
          <p:nvPr/>
        </p:nvSpPr>
        <p:spPr>
          <a:xfrm>
            <a:off x="4604004" y="3319272"/>
            <a:ext cx="2980944" cy="822960"/>
          </a:xfrm>
          <a:prstGeom prst="rect">
            <a:avLst/>
          </a:prstGeom>
          <a:noFill/>
          <a:ln/>
        </p:spPr>
        <p:txBody>
          <a:bodyPr wrap="square" lIns="0" tIns="0" rIns="0" bIns="0" rtlCol="0" anchor="t"/>
          <a:lstStyle/>
          <a:p>
            <a:pPr indent="0" marL="0">
              <a:lnSpc>
                <a:spcPct val="112000"/>
              </a:lnSpc>
              <a:buNone/>
            </a:pPr>
            <a:r>
              <a:rPr lang="en-US" sz="1200" dirty="0">
                <a:solidFill>
                  <a:srgbClr val="A2A2B6"/>
                </a:solidFill>
                <a:latin typeface="Calibri" pitchFamily="34" charset="0"/>
                <a:ea typeface="Calibri" pitchFamily="34" charset="-122"/>
                <a:cs typeface="Calibri" pitchFamily="34" charset="-120"/>
              </a:rPr>
              <a:t>Search curated Solana docs. Local BM25 by default; semantic embeddings when a key is set.</a:t>
            </a:r>
            <a:endParaRPr lang="en-US" sz="1200" dirty="0"/>
          </a:p>
        </p:txBody>
      </p:sp>
      <p:sp>
        <p:nvSpPr>
          <p:cNvPr id="13" name="Shape 11"/>
          <p:cNvSpPr/>
          <p:nvPr/>
        </p:nvSpPr>
        <p:spPr>
          <a:xfrm>
            <a:off x="8069580" y="2788920"/>
            <a:ext cx="3383280" cy="1481328"/>
          </a:xfrm>
          <a:prstGeom prst="roundRect">
            <a:avLst>
              <a:gd name="adj" fmla="val 5556"/>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4" name="Text 12"/>
          <p:cNvSpPr txBox="1"/>
          <p:nvPr/>
        </p:nvSpPr>
        <p:spPr>
          <a:xfrm>
            <a:off x="8270748" y="2953512"/>
            <a:ext cx="2980944" cy="320040"/>
          </a:xfrm>
          <a:prstGeom prst="rect">
            <a:avLst/>
          </a:prstGeom>
          <a:noFill/>
          <a:ln/>
        </p:spPr>
        <p:txBody>
          <a:bodyPr wrap="square" lIns="0" tIns="0" rIns="0" bIns="0" rtlCol="0" anchor="ctr"/>
          <a:lstStyle/>
          <a:p>
            <a:pPr indent="0" marL="0">
              <a:buNone/>
            </a:pPr>
            <a:r>
              <a:rPr lang="en-US" sz="1350" b="1" dirty="0">
                <a:solidFill>
                  <a:srgbClr val="17E59A"/>
                </a:solidFill>
                <a:latin typeface="Courier New" pitchFamily="34" charset="0"/>
                <a:ea typeface="Courier New" pitchFamily="34" charset="-122"/>
                <a:cs typeface="Courier New" pitchFamily="34" charset="-120"/>
              </a:rPr>
              <a:t>get_example</a:t>
            </a:r>
            <a:endParaRPr lang="en-US" sz="1350" dirty="0"/>
          </a:p>
        </p:txBody>
      </p:sp>
      <p:sp>
        <p:nvSpPr>
          <p:cNvPr id="15" name="Text 13"/>
          <p:cNvSpPr txBox="1"/>
          <p:nvPr/>
        </p:nvSpPr>
        <p:spPr>
          <a:xfrm>
            <a:off x="8270748" y="3319272"/>
            <a:ext cx="2980944" cy="822960"/>
          </a:xfrm>
          <a:prstGeom prst="rect">
            <a:avLst/>
          </a:prstGeom>
          <a:noFill/>
          <a:ln/>
        </p:spPr>
        <p:txBody>
          <a:bodyPr wrap="square" lIns="0" tIns="0" rIns="0" bIns="0" rtlCol="0" anchor="t"/>
          <a:lstStyle/>
          <a:p>
            <a:pPr indent="0" marL="0">
              <a:lnSpc>
                <a:spcPct val="112000"/>
              </a:lnSpc>
              <a:buNone/>
            </a:pPr>
            <a:r>
              <a:rPr lang="en-US" sz="1200" dirty="0">
                <a:solidFill>
                  <a:srgbClr val="A2A2B6"/>
                </a:solidFill>
                <a:latin typeface="Calibri" pitchFamily="34" charset="0"/>
                <a:ea typeface="Calibri" pitchFamily="34" charset="-122"/>
                <a:cs typeface="Calibri" pitchFamily="34" charset="-120"/>
              </a:rPr>
              <a:t>Canonical runnable code — send SOL, SPL transfers, PDAs, account reads.</a:t>
            </a:r>
            <a:endParaRPr lang="en-US" sz="1200" dirty="0"/>
          </a:p>
        </p:txBody>
      </p:sp>
      <p:sp>
        <p:nvSpPr>
          <p:cNvPr id="16" name="Shape 14"/>
          <p:cNvSpPr/>
          <p:nvPr/>
        </p:nvSpPr>
        <p:spPr>
          <a:xfrm>
            <a:off x="2569464" y="4526280"/>
            <a:ext cx="3383280" cy="1481328"/>
          </a:xfrm>
          <a:prstGeom prst="roundRect">
            <a:avLst>
              <a:gd name="adj" fmla="val 5556"/>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7" name="Text 15"/>
          <p:cNvSpPr txBox="1"/>
          <p:nvPr/>
        </p:nvSpPr>
        <p:spPr>
          <a:xfrm>
            <a:off x="2770632" y="4690872"/>
            <a:ext cx="2980944" cy="320040"/>
          </a:xfrm>
          <a:prstGeom prst="rect">
            <a:avLst/>
          </a:prstGeom>
          <a:noFill/>
          <a:ln/>
        </p:spPr>
        <p:txBody>
          <a:bodyPr wrap="square" lIns="0" tIns="0" rIns="0" bIns="0" rtlCol="0" anchor="ctr"/>
          <a:lstStyle/>
          <a:p>
            <a:pPr indent="0" marL="0">
              <a:buNone/>
            </a:pPr>
            <a:r>
              <a:rPr lang="en-US" sz="1350" b="1" dirty="0">
                <a:solidFill>
                  <a:srgbClr val="17E59A"/>
                </a:solidFill>
                <a:latin typeface="Courier New" pitchFamily="34" charset="0"/>
                <a:ea typeface="Courier New" pitchFamily="34" charset="-122"/>
                <a:cs typeface="Courier New" pitchFamily="34" charset="-120"/>
              </a:rPr>
              <a:t>get_program_addresses</a:t>
            </a:r>
            <a:endParaRPr lang="en-US" sz="1350" dirty="0"/>
          </a:p>
        </p:txBody>
      </p:sp>
      <p:sp>
        <p:nvSpPr>
          <p:cNvPr id="18" name="Text 16"/>
          <p:cNvSpPr txBox="1"/>
          <p:nvPr/>
        </p:nvSpPr>
        <p:spPr>
          <a:xfrm>
            <a:off x="2770632" y="5056632"/>
            <a:ext cx="2980944" cy="822960"/>
          </a:xfrm>
          <a:prstGeom prst="rect">
            <a:avLst/>
          </a:prstGeom>
          <a:noFill/>
          <a:ln/>
        </p:spPr>
        <p:txBody>
          <a:bodyPr wrap="square" lIns="0" tIns="0" rIns="0" bIns="0" rtlCol="0" anchor="t"/>
          <a:lstStyle/>
          <a:p>
            <a:pPr indent="0" marL="0">
              <a:lnSpc>
                <a:spcPct val="112000"/>
              </a:lnSpc>
              <a:buNone/>
            </a:pPr>
            <a:r>
              <a:rPr lang="en-US" sz="1200" dirty="0">
                <a:solidFill>
                  <a:srgbClr val="A2A2B6"/>
                </a:solidFill>
                <a:latin typeface="Calibri" pitchFamily="34" charset="0"/>
                <a:ea typeface="Calibri" pitchFamily="34" charset="-122"/>
                <a:cs typeface="Calibri" pitchFamily="34" charset="-120"/>
              </a:rPr>
              <a:t>Canonical program IDs — SPL, DeFi, governance.</a:t>
            </a:r>
            <a:endParaRPr lang="en-US" sz="1200" dirty="0"/>
          </a:p>
        </p:txBody>
      </p:sp>
      <p:sp>
        <p:nvSpPr>
          <p:cNvPr id="19" name="Shape 17"/>
          <p:cNvSpPr/>
          <p:nvPr/>
        </p:nvSpPr>
        <p:spPr>
          <a:xfrm>
            <a:off x="6236208" y="4526280"/>
            <a:ext cx="3383280" cy="1481328"/>
          </a:xfrm>
          <a:prstGeom prst="roundRect">
            <a:avLst>
              <a:gd name="adj" fmla="val 5556"/>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20" name="Text 18"/>
          <p:cNvSpPr txBox="1"/>
          <p:nvPr/>
        </p:nvSpPr>
        <p:spPr>
          <a:xfrm>
            <a:off x="6437376" y="4690872"/>
            <a:ext cx="2980944" cy="320040"/>
          </a:xfrm>
          <a:prstGeom prst="rect">
            <a:avLst/>
          </a:prstGeom>
          <a:noFill/>
          <a:ln/>
        </p:spPr>
        <p:txBody>
          <a:bodyPr wrap="square" lIns="0" tIns="0" rIns="0" bIns="0" rtlCol="0" anchor="ctr"/>
          <a:lstStyle/>
          <a:p>
            <a:pPr indent="0" marL="0">
              <a:buNone/>
            </a:pPr>
            <a:r>
              <a:rPr lang="en-US" sz="1350" b="1" dirty="0">
                <a:solidFill>
                  <a:srgbClr val="17E59A"/>
                </a:solidFill>
                <a:latin typeface="Courier New" pitchFamily="34" charset="0"/>
                <a:ea typeface="Courier New" pitchFamily="34" charset="-122"/>
                <a:cs typeface="Courier New" pitchFamily="34" charset="-120"/>
              </a:rPr>
              <a:t>get_sync_status</a:t>
            </a:r>
            <a:endParaRPr lang="en-US" sz="1350" dirty="0"/>
          </a:p>
        </p:txBody>
      </p:sp>
      <p:sp>
        <p:nvSpPr>
          <p:cNvPr id="21" name="Text 19"/>
          <p:cNvSpPr txBox="1"/>
          <p:nvPr/>
        </p:nvSpPr>
        <p:spPr>
          <a:xfrm>
            <a:off x="6437376" y="5056632"/>
            <a:ext cx="2980944" cy="822960"/>
          </a:xfrm>
          <a:prstGeom prst="rect">
            <a:avLst/>
          </a:prstGeom>
          <a:noFill/>
          <a:ln/>
        </p:spPr>
        <p:txBody>
          <a:bodyPr wrap="square" lIns="0" tIns="0" rIns="0" bIns="0" rtlCol="0" anchor="t"/>
          <a:lstStyle/>
          <a:p>
            <a:pPr indent="0" marL="0">
              <a:lnSpc>
                <a:spcPct val="112000"/>
              </a:lnSpc>
              <a:buNone/>
            </a:pPr>
            <a:r>
              <a:rPr lang="en-US" sz="1200" dirty="0">
                <a:solidFill>
                  <a:srgbClr val="A2A2B6"/>
                </a:solidFill>
                <a:latin typeface="Calibri" pitchFamily="34" charset="0"/>
                <a:ea typeface="Calibri" pitchFamily="34" charset="-122"/>
                <a:cs typeface="Calibri" pitchFamily="34" charset="-120"/>
              </a:rPr>
              <a:t>When each doc section was last verified against the protocol.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04</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685800" y="877824"/>
            <a:ext cx="292608" cy="25603"/>
          </a:xfrm>
          <a:prstGeom prst="rect">
            <a:avLst/>
          </a:prstGeom>
          <a:solidFill>
            <a:srgbClr val="17E59A"/>
          </a:solidFill>
          <a:ln/>
        </p:spPr>
      </p:sp>
      <p:sp>
        <p:nvSpPr>
          <p:cNvPr id="4" name="Text 2"/>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TRACK 1 THESIS</a:t>
            </a:r>
            <a:endParaRPr lang="en-US" sz="1200" dirty="0"/>
          </a:p>
        </p:txBody>
      </p:sp>
      <p:sp>
        <p:nvSpPr>
          <p:cNvPr id="5" name="Text 3"/>
          <p:cNvSpPr txBox="1"/>
          <p:nvPr/>
        </p:nvSpPr>
        <p:spPr>
          <a:xfrm>
            <a:off x="685800" y="1554480"/>
            <a:ext cx="10607040" cy="1828800"/>
          </a:xfrm>
          <a:prstGeom prst="rect">
            <a:avLst/>
          </a:prstGeom>
          <a:noFill/>
          <a:ln/>
        </p:spPr>
        <p:txBody>
          <a:bodyPr wrap="square" lIns="0" tIns="0" rIns="0" bIns="0" rtlCol="0" anchor="ctr"/>
          <a:lstStyle/>
          <a:p>
            <a:pPr indent="0" marL="0">
              <a:lnSpc>
                <a:spcPct val="100000"/>
              </a:lnSpc>
              <a:buNone/>
            </a:pPr>
            <a:r>
              <a:rPr lang="en-US" sz="5000" b="1" dirty="0">
                <a:solidFill>
                  <a:srgbClr val="F3F3F8"/>
                </a:solidFill>
                <a:latin typeface="Calibri" pitchFamily="34" charset="0"/>
                <a:ea typeface="Calibri" pitchFamily="34" charset="-122"/>
                <a:cs typeface="Calibri" pitchFamily="34" charset="-120"/>
              </a:rPr>
              <a:t>A tool is only as good as its
</a:t>
            </a:r>
            <a:pPr indent="0" marL="0">
              <a:lnSpc>
                <a:spcPct val="100000"/>
              </a:lnSpc>
              <a:buNone/>
            </a:pPr>
            <a:r>
              <a:rPr lang="en-US" sz="5000" b="1" dirty="0">
                <a:solidFill>
                  <a:srgbClr val="17E59A"/>
                </a:solidFill>
                <a:latin typeface="Calibri" pitchFamily="34" charset="0"/>
                <a:ea typeface="Calibri" pitchFamily="34" charset="-122"/>
                <a:cs typeface="Calibri" pitchFamily="34" charset="-120"/>
              </a:rPr>
              <a:t>docs stay true.</a:t>
            </a:r>
            <a:endParaRPr lang="en-US" sz="5000" dirty="0"/>
          </a:p>
        </p:txBody>
      </p:sp>
      <p:sp>
        <p:nvSpPr>
          <p:cNvPr id="6" name="Text 4"/>
          <p:cNvSpPr txBox="1"/>
          <p:nvPr/>
        </p:nvSpPr>
        <p:spPr>
          <a:xfrm>
            <a:off x="685800" y="3657600"/>
            <a:ext cx="9326880" cy="1371600"/>
          </a:xfrm>
          <a:prstGeom prst="rect">
            <a:avLst/>
          </a:prstGeom>
          <a:noFill/>
          <a:ln/>
        </p:spPr>
        <p:txBody>
          <a:bodyPr wrap="square" lIns="0" tIns="0" rIns="0" bIns="0" rtlCol="0" anchor="ctr"/>
          <a:lstStyle/>
          <a:p>
            <a:pPr indent="0" marL="0">
              <a:lnSpc>
                <a:spcPct val="120000"/>
              </a:lnSpc>
              <a:buNone/>
            </a:pPr>
            <a:r>
              <a:rPr lang="en-US" sz="1900" dirty="0">
                <a:solidFill>
                  <a:srgbClr val="A2A2B6"/>
                </a:solidFill>
                <a:latin typeface="Calibri" pitchFamily="34" charset="0"/>
                <a:ea typeface="Calibri" pitchFamily="34" charset="-122"/>
                <a:cs typeface="Calibri" pitchFamily="34" charset="-120"/>
              </a:rPr>
              <a:t>solctx's repository is the </a:t>
            </a:r>
            <a:pPr indent="0" marL="0">
              <a:lnSpc>
                <a:spcPct val="120000"/>
              </a:lnSpc>
              <a:buNone/>
            </a:pPr>
            <a:r>
              <a:rPr lang="en-US" sz="1900" b="1" dirty="0">
                <a:solidFill>
                  <a:srgbClr val="F3F3F8"/>
                </a:solidFill>
                <a:latin typeface="Calibri" pitchFamily="34" charset="0"/>
                <a:ea typeface="Calibri" pitchFamily="34" charset="-122"/>
                <a:cs typeface="Calibri" pitchFamily="34" charset="-120"/>
              </a:rPr>
              <a:t>product repository Thally's Track watches</a:t>
            </a:r>
            <a:pPr indent="0" marL="0">
              <a:lnSpc>
                <a:spcPct val="120000"/>
              </a:lnSpc>
              <a:buNone/>
            </a:pPr>
            <a:r>
              <a:rPr lang="en-US" sz="1900" dirty="0">
                <a:solidFill>
                  <a:srgbClr val="A2A2B6"/>
                </a:solidFill>
                <a:latin typeface="Calibri" pitchFamily="34" charset="0"/>
                <a:ea typeface="Calibri" pitchFamily="34" charset="-122"/>
                <a:cs typeface="Calibri" pitchFamily="34" charset="-120"/>
              </a:rPr>
              <a:t>. When the code changes, the docs shouldn't drift — Track drafts the documentation update as a reviewable PR. Humans stay in the loop; the source of truth stays one place.</a:t>
            </a:r>
            <a:endParaRPr lang="en-US" sz="1900" dirty="0"/>
          </a:p>
        </p:txBody>
      </p:sp>
      <p:sp>
        <p:nvSpPr>
          <p:cNvPr id="7" name="Text 5"/>
          <p:cNvSpPr txBox="1"/>
          <p:nvPr/>
        </p:nvSpPr>
        <p:spPr>
          <a:xfrm>
            <a:off x="685800" y="5349240"/>
            <a:ext cx="10058400" cy="365760"/>
          </a:xfrm>
          <a:prstGeom prst="rect">
            <a:avLst/>
          </a:prstGeom>
          <a:noFill/>
          <a:ln/>
        </p:spPr>
        <p:txBody>
          <a:bodyPr wrap="square" lIns="0" tIns="0" rIns="0" bIns="0" rtlCol="0" anchor="ctr"/>
          <a:lstStyle/>
          <a:p>
            <a:pPr indent="0" marL="0">
              <a:buNone/>
            </a:pPr>
            <a:r>
              <a:rPr lang="en-US" sz="1400" dirty="0">
                <a:solidFill>
                  <a:srgbClr val="6F6F86"/>
                </a:solidFill>
                <a:latin typeface="Courier New" pitchFamily="34" charset="0"/>
                <a:ea typeface="Courier New" pitchFamily="34" charset="-122"/>
                <a:cs typeface="Courier New" pitchFamily="34" charset="-120"/>
              </a:rPr>
              <a:t>// The MCP server is the product. The self-syncing docs are the point.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05</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685800" y="877824"/>
            <a:ext cx="292608" cy="25603"/>
          </a:xfrm>
          <a:prstGeom prst="rect">
            <a:avLst/>
          </a:prstGeom>
          <a:solidFill>
            <a:srgbClr val="17E59A"/>
          </a:solidFill>
          <a:ln/>
        </p:spPr>
      </p:sp>
      <p:sp>
        <p:nvSpPr>
          <p:cNvPr id="4" name="Text 2"/>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HOW THE LOOP WORKS</a:t>
            </a:r>
            <a:endParaRPr lang="en-US" sz="1200" dirty="0"/>
          </a:p>
        </p:txBody>
      </p:sp>
      <p:sp>
        <p:nvSpPr>
          <p:cNvPr id="5" name="Text 3"/>
          <p:cNvSpPr txBox="1"/>
          <p:nvPr/>
        </p:nvSpPr>
        <p:spPr>
          <a:xfrm>
            <a:off x="685800" y="1234440"/>
            <a:ext cx="10607040" cy="822960"/>
          </a:xfrm>
          <a:prstGeom prst="rect">
            <a:avLst/>
          </a:prstGeom>
          <a:noFill/>
          <a:ln/>
        </p:spPr>
        <p:txBody>
          <a:bodyPr wrap="square" lIns="0" tIns="0" rIns="0" bIns="0" rtlCol="0" anchor="ctr"/>
          <a:lstStyle/>
          <a:p>
            <a:pPr indent="0" marL="0">
              <a:buNone/>
            </a:pPr>
            <a:r>
              <a:rPr lang="en-US" sz="3800" b="1" dirty="0">
                <a:solidFill>
                  <a:srgbClr val="F3F3F8"/>
                </a:solidFill>
                <a:latin typeface="Calibri" pitchFamily="34" charset="0"/>
                <a:ea typeface="Calibri" pitchFamily="34" charset="-122"/>
                <a:cs typeface="Calibri" pitchFamily="34" charset="-120"/>
              </a:rPr>
              <a:t>Code merges  →  docs draft themselves.</a:t>
            </a:r>
            <a:endParaRPr lang="en-US" sz="3800" dirty="0"/>
          </a:p>
        </p:txBody>
      </p:sp>
      <p:sp>
        <p:nvSpPr>
          <p:cNvPr id="6" name="Shape 4"/>
          <p:cNvSpPr/>
          <p:nvPr/>
        </p:nvSpPr>
        <p:spPr>
          <a:xfrm>
            <a:off x="653796" y="2788920"/>
            <a:ext cx="2542032" cy="2286000"/>
          </a:xfrm>
          <a:prstGeom prst="roundRect">
            <a:avLst>
              <a:gd name="adj" fmla="val 3600"/>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7" name="Text 5"/>
          <p:cNvSpPr txBox="1"/>
          <p:nvPr/>
        </p:nvSpPr>
        <p:spPr>
          <a:xfrm>
            <a:off x="854964" y="2971800"/>
            <a:ext cx="914400" cy="274320"/>
          </a:xfrm>
          <a:prstGeom prst="rect">
            <a:avLst/>
          </a:prstGeom>
          <a:noFill/>
          <a:ln/>
        </p:spPr>
        <p:txBody>
          <a:bodyPr wrap="square" lIns="0" tIns="0" rIns="0" bIns="0" rtlCol="0" anchor="ctr"/>
          <a:lstStyle/>
          <a:p>
            <a:pPr indent="0" marL="0">
              <a:buNone/>
            </a:pPr>
            <a:r>
              <a:rPr lang="en-US" sz="1200" spc="200" kern="0" dirty="0">
                <a:solidFill>
                  <a:srgbClr val="6F6F86"/>
                </a:solidFill>
                <a:latin typeface="Courier New" pitchFamily="34" charset="0"/>
                <a:ea typeface="Courier New" pitchFamily="34" charset="-122"/>
                <a:cs typeface="Courier New" pitchFamily="34" charset="-120"/>
              </a:rPr>
              <a:t>01</a:t>
            </a:r>
            <a:endParaRPr lang="en-US" sz="1200" dirty="0"/>
          </a:p>
        </p:txBody>
      </p:sp>
      <p:sp>
        <p:nvSpPr>
          <p:cNvPr id="8" name="Text 6"/>
          <p:cNvSpPr txBox="1"/>
          <p:nvPr/>
        </p:nvSpPr>
        <p:spPr>
          <a:xfrm>
            <a:off x="854964" y="3355848"/>
            <a:ext cx="2139696" cy="457200"/>
          </a:xfrm>
          <a:prstGeom prst="rect">
            <a:avLst/>
          </a:prstGeom>
          <a:noFill/>
          <a:ln/>
        </p:spPr>
        <p:txBody>
          <a:bodyPr wrap="square" lIns="0" tIns="0" rIns="0" bIns="0" rtlCol="0" anchor="ctr"/>
          <a:lstStyle/>
          <a:p>
            <a:pPr indent="0" marL="0">
              <a:buNone/>
            </a:pPr>
            <a:r>
              <a:rPr lang="en-US" sz="1800" b="1" dirty="0">
                <a:solidFill>
                  <a:srgbClr val="F3F3F8"/>
                </a:solidFill>
                <a:latin typeface="Calibri" pitchFamily="34" charset="0"/>
                <a:ea typeface="Calibri" pitchFamily="34" charset="-122"/>
                <a:cs typeface="Calibri" pitchFamily="34" charset="-120"/>
              </a:rPr>
              <a:t>Ship code</a:t>
            </a:r>
            <a:endParaRPr lang="en-US" sz="1800" dirty="0"/>
          </a:p>
        </p:txBody>
      </p:sp>
      <p:sp>
        <p:nvSpPr>
          <p:cNvPr id="9" name="Text 7"/>
          <p:cNvSpPr txBox="1"/>
          <p:nvPr/>
        </p:nvSpPr>
        <p:spPr>
          <a:xfrm>
            <a:off x="854964" y="3886200"/>
            <a:ext cx="2139696" cy="1051560"/>
          </a:xfrm>
          <a:prstGeom prst="rect">
            <a:avLst/>
          </a:prstGeom>
          <a:noFill/>
          <a:ln/>
        </p:spPr>
        <p:txBody>
          <a:bodyPr wrap="square" lIns="0" tIns="0" rIns="0" bIns="0" rtlCol="0" anchor="t"/>
          <a:lstStyle/>
          <a:p>
            <a:pPr indent="0" marL="0">
              <a:lnSpc>
                <a:spcPct val="115000"/>
              </a:lnSpc>
              <a:buNone/>
            </a:pPr>
            <a:r>
              <a:rPr lang="en-US" sz="1250" dirty="0">
                <a:solidFill>
                  <a:srgbClr val="A2A2B6"/>
                </a:solidFill>
                <a:latin typeface="Calibri" pitchFamily="34" charset="0"/>
                <a:ea typeface="Calibri" pitchFamily="34" charset="-122"/>
                <a:cs typeface="Calibri" pitchFamily="34" charset="-120"/>
              </a:rPr>
              <a:t>A change merges in solctx — e.g. a new supply query.</a:t>
            </a:r>
            <a:endParaRPr lang="en-US" sz="1250" dirty="0"/>
          </a:p>
        </p:txBody>
      </p:sp>
      <p:sp>
        <p:nvSpPr>
          <p:cNvPr id="10" name="Text 8"/>
          <p:cNvSpPr txBox="1"/>
          <p:nvPr/>
        </p:nvSpPr>
        <p:spPr>
          <a:xfrm>
            <a:off x="3177540" y="3611880"/>
            <a:ext cx="274320" cy="640080"/>
          </a:xfrm>
          <a:prstGeom prst="rect">
            <a:avLst/>
          </a:prstGeom>
          <a:noFill/>
          <a:ln/>
        </p:spPr>
        <p:txBody>
          <a:bodyPr wrap="square" lIns="0" tIns="0" rIns="0" bIns="0" rtlCol="0" anchor="ctr"/>
          <a:lstStyle/>
          <a:p>
            <a:pPr algn="ctr" indent="0" marL="0">
              <a:buNone/>
            </a:pPr>
            <a:r>
              <a:rPr lang="en-US" sz="2200" b="1" dirty="0">
                <a:solidFill>
                  <a:srgbClr val="0E9D6C"/>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3433572" y="2788920"/>
            <a:ext cx="2542032" cy="2286000"/>
          </a:xfrm>
          <a:prstGeom prst="roundRect">
            <a:avLst>
              <a:gd name="adj" fmla="val 3600"/>
            </a:avLst>
          </a:prstGeom>
          <a:solidFill>
            <a:srgbClr val="16241E"/>
          </a:solidFill>
          <a:ln w="12700">
            <a:solidFill>
              <a:srgbClr val="0E9D6C"/>
            </a:solidFill>
            <a:prstDash val="solid"/>
          </a:ln>
          <a:effectLst>
            <a:outerShdw sx="100000" sy="100000" kx="0" ky="0" algn="bl" rotWithShape="0" blurRad="127000" dist="38100" dir="5400000">
              <a:srgbClr val="000000">
                <a:alpha val="35000"/>
              </a:srgbClr>
            </a:outerShdw>
          </a:effectLst>
        </p:spPr>
      </p:sp>
      <p:sp>
        <p:nvSpPr>
          <p:cNvPr id="12" name="Text 10"/>
          <p:cNvSpPr txBox="1"/>
          <p:nvPr/>
        </p:nvSpPr>
        <p:spPr>
          <a:xfrm>
            <a:off x="3634740" y="2971800"/>
            <a:ext cx="914400" cy="274320"/>
          </a:xfrm>
          <a:prstGeom prst="rect">
            <a:avLst/>
          </a:prstGeom>
          <a:noFill/>
          <a:ln/>
        </p:spPr>
        <p:txBody>
          <a:bodyPr wrap="square" lIns="0" tIns="0" rIns="0" bIns="0" rtlCol="0" anchor="ctr"/>
          <a:lstStyle/>
          <a:p>
            <a:pPr indent="0" marL="0">
              <a:buNone/>
            </a:pPr>
            <a:r>
              <a:rPr lang="en-US" sz="1200" spc="200" kern="0" dirty="0">
                <a:solidFill>
                  <a:srgbClr val="17E59A"/>
                </a:solidFill>
                <a:latin typeface="Courier New" pitchFamily="34" charset="0"/>
                <a:ea typeface="Courier New" pitchFamily="34" charset="-122"/>
                <a:cs typeface="Courier New" pitchFamily="34" charset="-120"/>
              </a:rPr>
              <a:t>02</a:t>
            </a:r>
            <a:endParaRPr lang="en-US" sz="1200" dirty="0"/>
          </a:p>
        </p:txBody>
      </p:sp>
      <p:sp>
        <p:nvSpPr>
          <p:cNvPr id="13" name="Text 11"/>
          <p:cNvSpPr txBox="1"/>
          <p:nvPr/>
        </p:nvSpPr>
        <p:spPr>
          <a:xfrm>
            <a:off x="3634740" y="3355848"/>
            <a:ext cx="2139696" cy="457200"/>
          </a:xfrm>
          <a:prstGeom prst="rect">
            <a:avLst/>
          </a:prstGeom>
          <a:noFill/>
          <a:ln/>
        </p:spPr>
        <p:txBody>
          <a:bodyPr wrap="square" lIns="0" tIns="0" rIns="0" bIns="0" rtlCol="0" anchor="ctr"/>
          <a:lstStyle/>
          <a:p>
            <a:pPr indent="0" marL="0">
              <a:buNone/>
            </a:pPr>
            <a:r>
              <a:rPr lang="en-US" sz="1800" b="1" dirty="0">
                <a:solidFill>
                  <a:srgbClr val="17E59A"/>
                </a:solidFill>
                <a:latin typeface="Calibri" pitchFamily="34" charset="0"/>
                <a:ea typeface="Calibri" pitchFamily="34" charset="-122"/>
                <a:cs typeface="Calibri" pitchFamily="34" charset="-120"/>
              </a:rPr>
              <a:t>Track drafts</a:t>
            </a:r>
            <a:endParaRPr lang="en-US" sz="1800" dirty="0"/>
          </a:p>
        </p:txBody>
      </p:sp>
      <p:sp>
        <p:nvSpPr>
          <p:cNvPr id="14" name="Text 12"/>
          <p:cNvSpPr txBox="1"/>
          <p:nvPr/>
        </p:nvSpPr>
        <p:spPr>
          <a:xfrm>
            <a:off x="3634740" y="3886200"/>
            <a:ext cx="2139696" cy="1051560"/>
          </a:xfrm>
          <a:prstGeom prst="rect">
            <a:avLst/>
          </a:prstGeom>
          <a:noFill/>
          <a:ln/>
        </p:spPr>
        <p:txBody>
          <a:bodyPr wrap="square" lIns="0" tIns="0" rIns="0" bIns="0" rtlCol="0" anchor="t"/>
          <a:lstStyle/>
          <a:p>
            <a:pPr indent="0" marL="0">
              <a:lnSpc>
                <a:spcPct val="115000"/>
              </a:lnSpc>
              <a:buNone/>
            </a:pPr>
            <a:r>
              <a:rPr lang="en-US" sz="1250" dirty="0">
                <a:solidFill>
                  <a:srgbClr val="A2A2B6"/>
                </a:solidFill>
                <a:latin typeface="Calibri" pitchFamily="34" charset="0"/>
                <a:ea typeface="Calibri" pitchFamily="34" charset="-122"/>
                <a:cs typeface="Calibri" pitchFamily="34" charset="-120"/>
              </a:rPr>
              <a:t>Thally detects the merge and opens a documentation PR into solctx-docs.</a:t>
            </a:r>
            <a:endParaRPr lang="en-US" sz="1250" dirty="0"/>
          </a:p>
        </p:txBody>
      </p:sp>
      <p:sp>
        <p:nvSpPr>
          <p:cNvPr id="15" name="Text 13"/>
          <p:cNvSpPr txBox="1"/>
          <p:nvPr/>
        </p:nvSpPr>
        <p:spPr>
          <a:xfrm>
            <a:off x="5957316" y="3611880"/>
            <a:ext cx="274320" cy="640080"/>
          </a:xfrm>
          <a:prstGeom prst="rect">
            <a:avLst/>
          </a:prstGeom>
          <a:noFill/>
          <a:ln/>
        </p:spPr>
        <p:txBody>
          <a:bodyPr wrap="square" lIns="0" tIns="0" rIns="0" bIns="0" rtlCol="0" anchor="ctr"/>
          <a:lstStyle/>
          <a:p>
            <a:pPr algn="ctr" indent="0" marL="0">
              <a:buNone/>
            </a:pPr>
            <a:r>
              <a:rPr lang="en-US" sz="2200" b="1" dirty="0">
                <a:solidFill>
                  <a:srgbClr val="0E9D6C"/>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13348" y="2788920"/>
            <a:ext cx="2542032" cy="2286000"/>
          </a:xfrm>
          <a:prstGeom prst="roundRect">
            <a:avLst>
              <a:gd name="adj" fmla="val 3600"/>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7" name="Text 15"/>
          <p:cNvSpPr txBox="1"/>
          <p:nvPr/>
        </p:nvSpPr>
        <p:spPr>
          <a:xfrm>
            <a:off x="6414516" y="2971800"/>
            <a:ext cx="914400" cy="274320"/>
          </a:xfrm>
          <a:prstGeom prst="rect">
            <a:avLst/>
          </a:prstGeom>
          <a:noFill/>
          <a:ln/>
        </p:spPr>
        <p:txBody>
          <a:bodyPr wrap="square" lIns="0" tIns="0" rIns="0" bIns="0" rtlCol="0" anchor="ctr"/>
          <a:lstStyle/>
          <a:p>
            <a:pPr indent="0" marL="0">
              <a:buNone/>
            </a:pPr>
            <a:r>
              <a:rPr lang="en-US" sz="1200" spc="200" kern="0" dirty="0">
                <a:solidFill>
                  <a:srgbClr val="6F6F86"/>
                </a:solidFill>
                <a:latin typeface="Courier New" pitchFamily="34" charset="0"/>
                <a:ea typeface="Courier New" pitchFamily="34" charset="-122"/>
                <a:cs typeface="Courier New" pitchFamily="34" charset="-120"/>
              </a:rPr>
              <a:t>03</a:t>
            </a:r>
            <a:endParaRPr lang="en-US" sz="1200" dirty="0"/>
          </a:p>
        </p:txBody>
      </p:sp>
      <p:sp>
        <p:nvSpPr>
          <p:cNvPr id="18" name="Text 16"/>
          <p:cNvSpPr txBox="1"/>
          <p:nvPr/>
        </p:nvSpPr>
        <p:spPr>
          <a:xfrm>
            <a:off x="6414516" y="3355848"/>
            <a:ext cx="2139696" cy="457200"/>
          </a:xfrm>
          <a:prstGeom prst="rect">
            <a:avLst/>
          </a:prstGeom>
          <a:noFill/>
          <a:ln/>
        </p:spPr>
        <p:txBody>
          <a:bodyPr wrap="square" lIns="0" tIns="0" rIns="0" bIns="0" rtlCol="0" anchor="ctr"/>
          <a:lstStyle/>
          <a:p>
            <a:pPr indent="0" marL="0">
              <a:buNone/>
            </a:pPr>
            <a:r>
              <a:rPr lang="en-US" sz="1800" b="1" dirty="0">
                <a:solidFill>
                  <a:srgbClr val="F3F3F8"/>
                </a:solidFill>
                <a:latin typeface="Calibri" pitchFamily="34" charset="0"/>
                <a:ea typeface="Calibri" pitchFamily="34" charset="-122"/>
                <a:cs typeface="Calibri" pitchFamily="34" charset="-120"/>
              </a:rPr>
              <a:t>Human reviews</a:t>
            </a:r>
            <a:endParaRPr lang="en-US" sz="1800" dirty="0"/>
          </a:p>
        </p:txBody>
      </p:sp>
      <p:sp>
        <p:nvSpPr>
          <p:cNvPr id="19" name="Text 17"/>
          <p:cNvSpPr txBox="1"/>
          <p:nvPr/>
        </p:nvSpPr>
        <p:spPr>
          <a:xfrm>
            <a:off x="6414516" y="3886200"/>
            <a:ext cx="2139696" cy="1051560"/>
          </a:xfrm>
          <a:prstGeom prst="rect">
            <a:avLst/>
          </a:prstGeom>
          <a:noFill/>
          <a:ln/>
        </p:spPr>
        <p:txBody>
          <a:bodyPr wrap="square" lIns="0" tIns="0" rIns="0" bIns="0" rtlCol="0" anchor="t"/>
          <a:lstStyle/>
          <a:p>
            <a:pPr indent="0" marL="0">
              <a:lnSpc>
                <a:spcPct val="115000"/>
              </a:lnSpc>
              <a:buNone/>
            </a:pPr>
            <a:r>
              <a:rPr lang="en-US" sz="1250" dirty="0">
                <a:solidFill>
                  <a:srgbClr val="A2A2B6"/>
                </a:solidFill>
                <a:latin typeface="Calibri" pitchFamily="34" charset="0"/>
                <a:ea typeface="Calibri" pitchFamily="34" charset="-122"/>
                <a:cs typeface="Calibri" pitchFamily="34" charset="-120"/>
              </a:rPr>
              <a:t>Accept, edit, or reject — with reasoning. Docs never publish unreviewed.</a:t>
            </a:r>
            <a:endParaRPr lang="en-US" sz="1250" dirty="0"/>
          </a:p>
        </p:txBody>
      </p:sp>
      <p:sp>
        <p:nvSpPr>
          <p:cNvPr id="20" name="Text 18"/>
          <p:cNvSpPr txBox="1"/>
          <p:nvPr/>
        </p:nvSpPr>
        <p:spPr>
          <a:xfrm>
            <a:off x="8737092" y="3611880"/>
            <a:ext cx="274320" cy="640080"/>
          </a:xfrm>
          <a:prstGeom prst="rect">
            <a:avLst/>
          </a:prstGeom>
          <a:noFill/>
          <a:ln/>
        </p:spPr>
        <p:txBody>
          <a:bodyPr wrap="square" lIns="0" tIns="0" rIns="0" bIns="0" rtlCol="0" anchor="ctr"/>
          <a:lstStyle/>
          <a:p>
            <a:pPr algn="ctr" indent="0" marL="0">
              <a:buNone/>
            </a:pPr>
            <a:r>
              <a:rPr lang="en-US" sz="2200" b="1" dirty="0">
                <a:solidFill>
                  <a:srgbClr val="0E9D6C"/>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8993124" y="2788920"/>
            <a:ext cx="2542032" cy="2286000"/>
          </a:xfrm>
          <a:prstGeom prst="roundRect">
            <a:avLst>
              <a:gd name="adj" fmla="val 3600"/>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22" name="Text 20"/>
          <p:cNvSpPr txBox="1"/>
          <p:nvPr/>
        </p:nvSpPr>
        <p:spPr>
          <a:xfrm>
            <a:off x="9194292" y="2971800"/>
            <a:ext cx="914400" cy="274320"/>
          </a:xfrm>
          <a:prstGeom prst="rect">
            <a:avLst/>
          </a:prstGeom>
          <a:noFill/>
          <a:ln/>
        </p:spPr>
        <p:txBody>
          <a:bodyPr wrap="square" lIns="0" tIns="0" rIns="0" bIns="0" rtlCol="0" anchor="ctr"/>
          <a:lstStyle/>
          <a:p>
            <a:pPr indent="0" marL="0">
              <a:buNone/>
            </a:pPr>
            <a:r>
              <a:rPr lang="en-US" sz="1200" spc="200" kern="0" dirty="0">
                <a:solidFill>
                  <a:srgbClr val="6F6F86"/>
                </a:solidFill>
                <a:latin typeface="Courier New" pitchFamily="34" charset="0"/>
                <a:ea typeface="Courier New" pitchFamily="34" charset="-122"/>
                <a:cs typeface="Courier New" pitchFamily="34" charset="-120"/>
              </a:rPr>
              <a:t>04</a:t>
            </a:r>
            <a:endParaRPr lang="en-US" sz="1200" dirty="0"/>
          </a:p>
        </p:txBody>
      </p:sp>
      <p:sp>
        <p:nvSpPr>
          <p:cNvPr id="23" name="Text 21"/>
          <p:cNvSpPr txBox="1"/>
          <p:nvPr/>
        </p:nvSpPr>
        <p:spPr>
          <a:xfrm>
            <a:off x="9194292" y="3355848"/>
            <a:ext cx="2139696" cy="457200"/>
          </a:xfrm>
          <a:prstGeom prst="rect">
            <a:avLst/>
          </a:prstGeom>
          <a:noFill/>
          <a:ln/>
        </p:spPr>
        <p:txBody>
          <a:bodyPr wrap="square" lIns="0" tIns="0" rIns="0" bIns="0" rtlCol="0" anchor="ctr"/>
          <a:lstStyle/>
          <a:p>
            <a:pPr indent="0" marL="0">
              <a:buNone/>
            </a:pPr>
            <a:r>
              <a:rPr lang="en-US" sz="1800" b="1" dirty="0">
                <a:solidFill>
                  <a:srgbClr val="F3F3F8"/>
                </a:solidFill>
                <a:latin typeface="Calibri" pitchFamily="34" charset="0"/>
                <a:ea typeface="Calibri" pitchFamily="34" charset="-122"/>
                <a:cs typeface="Calibri" pitchFamily="34" charset="-120"/>
              </a:rPr>
              <a:t>Site updates</a:t>
            </a:r>
            <a:endParaRPr lang="en-US" sz="1800" dirty="0"/>
          </a:p>
        </p:txBody>
      </p:sp>
      <p:sp>
        <p:nvSpPr>
          <p:cNvPr id="24" name="Text 22"/>
          <p:cNvSpPr txBox="1"/>
          <p:nvPr/>
        </p:nvSpPr>
        <p:spPr>
          <a:xfrm>
            <a:off x="9194292" y="3886200"/>
            <a:ext cx="2139696" cy="1051560"/>
          </a:xfrm>
          <a:prstGeom prst="rect">
            <a:avLst/>
          </a:prstGeom>
          <a:noFill/>
          <a:ln/>
        </p:spPr>
        <p:txBody>
          <a:bodyPr wrap="square" lIns="0" tIns="0" rIns="0" bIns="0" rtlCol="0" anchor="t"/>
          <a:lstStyle/>
          <a:p>
            <a:pPr indent="0" marL="0">
              <a:lnSpc>
                <a:spcPct val="115000"/>
              </a:lnSpc>
              <a:buNone/>
            </a:pPr>
            <a:r>
              <a:rPr lang="en-US" sz="1250" dirty="0">
                <a:solidFill>
                  <a:srgbClr val="A2A2B6"/>
                </a:solidFill>
                <a:latin typeface="Calibri" pitchFamily="34" charset="0"/>
                <a:ea typeface="Calibri" pitchFamily="34" charset="-122"/>
                <a:cs typeface="Calibri" pitchFamily="34" charset="-120"/>
              </a:rPr>
              <a:t>The live docs reflect reality again — one source of truth.</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06</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685800" y="877824"/>
            <a:ext cx="292608" cy="25603"/>
          </a:xfrm>
          <a:prstGeom prst="rect">
            <a:avLst/>
          </a:prstGeom>
          <a:solidFill>
            <a:srgbClr val="17E59A"/>
          </a:solidFill>
          <a:ln/>
        </p:spPr>
      </p:sp>
      <p:sp>
        <p:nvSpPr>
          <p:cNvPr id="4" name="Text 2"/>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PROOF, NOT SLIDES</a:t>
            </a:r>
            <a:endParaRPr lang="en-US" sz="1200" dirty="0"/>
          </a:p>
        </p:txBody>
      </p:sp>
      <p:sp>
        <p:nvSpPr>
          <p:cNvPr id="5" name="Text 3"/>
          <p:cNvSpPr txBox="1"/>
          <p:nvPr/>
        </p:nvSpPr>
        <p:spPr>
          <a:xfrm>
            <a:off x="685800" y="1234440"/>
            <a:ext cx="10607040" cy="822960"/>
          </a:xfrm>
          <a:prstGeom prst="rect">
            <a:avLst/>
          </a:prstGeom>
          <a:noFill/>
          <a:ln/>
        </p:spPr>
        <p:txBody>
          <a:bodyPr wrap="square" lIns="0" tIns="0" rIns="0" bIns="0" rtlCol="0" anchor="ctr"/>
          <a:lstStyle/>
          <a:p>
            <a:pPr indent="0" marL="0">
              <a:buNone/>
            </a:pPr>
            <a:r>
              <a:rPr lang="en-US" sz="4000" b="1" dirty="0">
                <a:solidFill>
                  <a:srgbClr val="F3F3F8"/>
                </a:solidFill>
                <a:latin typeface="Calibri" pitchFamily="34" charset="0"/>
                <a:ea typeface="Calibri" pitchFamily="34" charset="-122"/>
                <a:cs typeface="Calibri" pitchFamily="34" charset="-120"/>
              </a:rPr>
              <a:t>It's real, and it's running.</a:t>
            </a:r>
            <a:endParaRPr lang="en-US" sz="4000" dirty="0"/>
          </a:p>
        </p:txBody>
      </p:sp>
      <p:sp>
        <p:nvSpPr>
          <p:cNvPr id="6" name="Text 4"/>
          <p:cNvSpPr txBox="1"/>
          <p:nvPr/>
        </p:nvSpPr>
        <p:spPr>
          <a:xfrm>
            <a:off x="653796" y="2834640"/>
            <a:ext cx="2542032" cy="1005840"/>
          </a:xfrm>
          <a:prstGeom prst="rect">
            <a:avLst/>
          </a:prstGeom>
          <a:noFill/>
          <a:ln/>
        </p:spPr>
        <p:txBody>
          <a:bodyPr wrap="square" lIns="0" tIns="0" rIns="0" bIns="0" rtlCol="0" anchor="ctr"/>
          <a:lstStyle/>
          <a:p>
            <a:pPr algn="l" indent="0" marL="0">
              <a:buNone/>
            </a:pPr>
            <a:r>
              <a:rPr lang="en-US" sz="6000" b="1" dirty="0">
                <a:solidFill>
                  <a:srgbClr val="17E59A"/>
                </a:solidFill>
                <a:latin typeface="Calibri" pitchFamily="34" charset="0"/>
                <a:ea typeface="Calibri" pitchFamily="34" charset="-122"/>
                <a:cs typeface="Calibri" pitchFamily="34" charset="-120"/>
              </a:rPr>
              <a:t>5</a:t>
            </a:r>
            <a:endParaRPr lang="en-US" sz="6000" dirty="0"/>
          </a:p>
        </p:txBody>
      </p:sp>
      <p:sp>
        <p:nvSpPr>
          <p:cNvPr id="7" name="Text 5"/>
          <p:cNvSpPr txBox="1"/>
          <p:nvPr/>
        </p:nvSpPr>
        <p:spPr>
          <a:xfrm>
            <a:off x="653796" y="3886200"/>
            <a:ext cx="2542032" cy="822960"/>
          </a:xfrm>
          <a:prstGeom prst="rect">
            <a:avLst/>
          </a:prstGeom>
          <a:noFill/>
          <a:ln/>
        </p:spPr>
        <p:txBody>
          <a:bodyPr wrap="square" lIns="0" tIns="0" rIns="0" bIns="0" rtlCol="0" anchor="t"/>
          <a:lstStyle/>
          <a:p>
            <a:pPr indent="0" marL="0">
              <a:lnSpc>
                <a:spcPct val="115000"/>
              </a:lnSpc>
              <a:buNone/>
            </a:pPr>
            <a:r>
              <a:rPr lang="en-US" sz="1400" dirty="0">
                <a:solidFill>
                  <a:srgbClr val="A2A2B6"/>
                </a:solidFill>
                <a:latin typeface="Calibri" pitchFamily="34" charset="0"/>
                <a:ea typeface="Calibri" pitchFamily="34" charset="-122"/>
                <a:cs typeface="Calibri" pitchFamily="34" charset="-120"/>
              </a:rPr>
              <a:t>tools, all verified live on devnet</a:t>
            </a:r>
            <a:endParaRPr lang="en-US" sz="1400" dirty="0"/>
          </a:p>
        </p:txBody>
      </p:sp>
      <p:sp>
        <p:nvSpPr>
          <p:cNvPr id="8" name="Text 6"/>
          <p:cNvSpPr txBox="1"/>
          <p:nvPr/>
        </p:nvSpPr>
        <p:spPr>
          <a:xfrm>
            <a:off x="3433572" y="2834640"/>
            <a:ext cx="2542032" cy="1005840"/>
          </a:xfrm>
          <a:prstGeom prst="rect">
            <a:avLst/>
          </a:prstGeom>
          <a:noFill/>
          <a:ln/>
        </p:spPr>
        <p:txBody>
          <a:bodyPr wrap="square" lIns="0" tIns="0" rIns="0" bIns="0" rtlCol="0" anchor="ctr"/>
          <a:lstStyle/>
          <a:p>
            <a:pPr algn="l" indent="0" marL="0">
              <a:buNone/>
            </a:pPr>
            <a:r>
              <a:rPr lang="en-US" sz="6000" b="1" dirty="0">
                <a:solidFill>
                  <a:srgbClr val="17E59A"/>
                </a:solidFill>
                <a:latin typeface="Calibri" pitchFamily="34" charset="0"/>
                <a:ea typeface="Calibri" pitchFamily="34" charset="-122"/>
                <a:cs typeface="Calibri" pitchFamily="34" charset="-120"/>
              </a:rPr>
              <a:t>0</a:t>
            </a:r>
            <a:endParaRPr lang="en-US" sz="6000" dirty="0"/>
          </a:p>
        </p:txBody>
      </p:sp>
      <p:sp>
        <p:nvSpPr>
          <p:cNvPr id="9" name="Text 7"/>
          <p:cNvSpPr txBox="1"/>
          <p:nvPr/>
        </p:nvSpPr>
        <p:spPr>
          <a:xfrm>
            <a:off x="3433572" y="3886200"/>
            <a:ext cx="2542032" cy="822960"/>
          </a:xfrm>
          <a:prstGeom prst="rect">
            <a:avLst/>
          </a:prstGeom>
          <a:noFill/>
          <a:ln/>
        </p:spPr>
        <p:txBody>
          <a:bodyPr wrap="square" lIns="0" tIns="0" rIns="0" bIns="0" rtlCol="0" anchor="t"/>
          <a:lstStyle/>
          <a:p>
            <a:pPr indent="0" marL="0">
              <a:lnSpc>
                <a:spcPct val="115000"/>
              </a:lnSpc>
              <a:buNone/>
            </a:pPr>
            <a:r>
              <a:rPr lang="en-US" sz="1400" dirty="0">
                <a:solidFill>
                  <a:srgbClr val="A2A2B6"/>
                </a:solidFill>
                <a:latin typeface="Calibri" pitchFamily="34" charset="0"/>
                <a:ea typeface="Calibri" pitchFamily="34" charset="-122"/>
                <a:cs typeface="Calibri" pitchFamily="34" charset="-120"/>
              </a:rPr>
              <a:t>API keys required to run</a:t>
            </a:r>
            <a:endParaRPr lang="en-US" sz="1400" dirty="0"/>
          </a:p>
        </p:txBody>
      </p:sp>
      <p:sp>
        <p:nvSpPr>
          <p:cNvPr id="10" name="Text 8"/>
          <p:cNvSpPr txBox="1"/>
          <p:nvPr/>
        </p:nvSpPr>
        <p:spPr>
          <a:xfrm>
            <a:off x="6213348" y="2834640"/>
            <a:ext cx="2542032" cy="1005840"/>
          </a:xfrm>
          <a:prstGeom prst="rect">
            <a:avLst/>
          </a:prstGeom>
          <a:noFill/>
          <a:ln/>
        </p:spPr>
        <p:txBody>
          <a:bodyPr wrap="square" lIns="0" tIns="0" rIns="0" bIns="0" rtlCol="0" anchor="ctr"/>
          <a:lstStyle/>
          <a:p>
            <a:pPr algn="l" indent="0" marL="0">
              <a:buNone/>
            </a:pPr>
            <a:r>
              <a:rPr lang="en-US" sz="6000" b="1" dirty="0">
                <a:solidFill>
                  <a:srgbClr val="17E59A"/>
                </a:solidFill>
                <a:latin typeface="Calibri" pitchFamily="34" charset="0"/>
                <a:ea typeface="Calibri" pitchFamily="34" charset="-122"/>
                <a:cs typeface="Calibri" pitchFamily="34" charset="-120"/>
              </a:rPr>
              <a:t>Live</a:t>
            </a:r>
            <a:endParaRPr lang="en-US" sz="6000" dirty="0"/>
          </a:p>
        </p:txBody>
      </p:sp>
      <p:sp>
        <p:nvSpPr>
          <p:cNvPr id="11" name="Text 9"/>
          <p:cNvSpPr txBox="1"/>
          <p:nvPr/>
        </p:nvSpPr>
        <p:spPr>
          <a:xfrm>
            <a:off x="6213348" y="3886200"/>
            <a:ext cx="2542032" cy="822960"/>
          </a:xfrm>
          <a:prstGeom prst="rect">
            <a:avLst/>
          </a:prstGeom>
          <a:noFill/>
          <a:ln/>
        </p:spPr>
        <p:txBody>
          <a:bodyPr wrap="square" lIns="0" tIns="0" rIns="0" bIns="0" rtlCol="0" anchor="t"/>
          <a:lstStyle/>
          <a:p>
            <a:pPr indent="0" marL="0">
              <a:lnSpc>
                <a:spcPct val="115000"/>
              </a:lnSpc>
              <a:buNone/>
            </a:pPr>
            <a:r>
              <a:rPr lang="en-US" sz="1400" dirty="0">
                <a:solidFill>
                  <a:srgbClr val="A2A2B6"/>
                </a:solidFill>
                <a:latin typeface="Calibri" pitchFamily="34" charset="0"/>
                <a:ea typeface="Calibri" pitchFamily="34" charset="-122"/>
                <a:cs typeface="Calibri" pitchFamily="34" charset="-120"/>
              </a:rPr>
              <a:t>docs site published on the web</a:t>
            </a:r>
            <a:endParaRPr lang="en-US" sz="1400" dirty="0"/>
          </a:p>
        </p:txBody>
      </p:sp>
      <p:sp>
        <p:nvSpPr>
          <p:cNvPr id="12" name="Text 10"/>
          <p:cNvSpPr txBox="1"/>
          <p:nvPr/>
        </p:nvSpPr>
        <p:spPr>
          <a:xfrm>
            <a:off x="8993124" y="2834640"/>
            <a:ext cx="2542032" cy="1005840"/>
          </a:xfrm>
          <a:prstGeom prst="rect">
            <a:avLst/>
          </a:prstGeom>
          <a:noFill/>
          <a:ln/>
        </p:spPr>
        <p:txBody>
          <a:bodyPr wrap="square" lIns="0" tIns="0" rIns="0" bIns="0" rtlCol="0" anchor="ctr"/>
          <a:lstStyle/>
          <a:p>
            <a:pPr algn="l" indent="0" marL="0">
              <a:buNone/>
            </a:pPr>
            <a:r>
              <a:rPr lang="en-US" sz="6000" b="1" dirty="0">
                <a:solidFill>
                  <a:srgbClr val="17E59A"/>
                </a:solidFill>
                <a:latin typeface="Calibri" pitchFamily="34" charset="0"/>
                <a:ea typeface="Calibri" pitchFamily="34" charset="-122"/>
                <a:cs typeface="Calibri" pitchFamily="34" charset="-120"/>
              </a:rPr>
              <a:t>100%</a:t>
            </a:r>
            <a:endParaRPr lang="en-US" sz="6000" dirty="0"/>
          </a:p>
        </p:txBody>
      </p:sp>
      <p:sp>
        <p:nvSpPr>
          <p:cNvPr id="13" name="Text 11"/>
          <p:cNvSpPr txBox="1"/>
          <p:nvPr/>
        </p:nvSpPr>
        <p:spPr>
          <a:xfrm>
            <a:off x="8993124" y="3886200"/>
            <a:ext cx="2542032" cy="822960"/>
          </a:xfrm>
          <a:prstGeom prst="rect">
            <a:avLst/>
          </a:prstGeom>
          <a:noFill/>
          <a:ln/>
        </p:spPr>
        <p:txBody>
          <a:bodyPr wrap="square" lIns="0" tIns="0" rIns="0" bIns="0" rtlCol="0" anchor="t"/>
          <a:lstStyle/>
          <a:p>
            <a:pPr indent="0" marL="0">
              <a:lnSpc>
                <a:spcPct val="115000"/>
              </a:lnSpc>
              <a:buNone/>
            </a:pPr>
            <a:r>
              <a:rPr lang="en-US" sz="1400" dirty="0">
                <a:solidFill>
                  <a:srgbClr val="A2A2B6"/>
                </a:solidFill>
                <a:latin typeface="Calibri" pitchFamily="34" charset="0"/>
                <a:ea typeface="Calibri" pitchFamily="34" charset="-122"/>
                <a:cs typeface="Calibri" pitchFamily="34" charset="-120"/>
              </a:rPr>
              <a:t>fresh-clone build + tests pass</a:t>
            </a:r>
            <a:endParaRPr lang="en-US" sz="1400" dirty="0"/>
          </a:p>
        </p:txBody>
      </p:sp>
      <p:sp>
        <p:nvSpPr>
          <p:cNvPr id="14" name="Text 12"/>
          <p:cNvSpPr txBox="1"/>
          <p:nvPr/>
        </p:nvSpPr>
        <p:spPr>
          <a:xfrm>
            <a:off x="685800" y="5257800"/>
            <a:ext cx="10058400" cy="365760"/>
          </a:xfrm>
          <a:prstGeom prst="rect">
            <a:avLst/>
          </a:prstGeom>
          <a:noFill/>
          <a:ln/>
        </p:spPr>
        <p:txBody>
          <a:bodyPr wrap="square" lIns="0" tIns="0" rIns="0" bIns="0" rtlCol="0" anchor="ctr"/>
          <a:lstStyle/>
          <a:p>
            <a:pPr indent="0" marL="0">
              <a:buNone/>
            </a:pPr>
            <a:r>
              <a:rPr lang="en-US" sz="1400" dirty="0">
                <a:solidFill>
                  <a:srgbClr val="6F6F86"/>
                </a:solidFill>
                <a:latin typeface="Courier New" pitchFamily="34" charset="0"/>
                <a:ea typeface="Courier New" pitchFamily="34" charset="-122"/>
                <a:cs typeface="Courier New" pitchFamily="34" charset="-120"/>
              </a:rPr>
              <a:t>// Every tool call in the demo runs against api.devnet.solana.com.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07</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685800" y="877824"/>
            <a:ext cx="292608" cy="25603"/>
          </a:xfrm>
          <a:prstGeom prst="rect">
            <a:avLst/>
          </a:prstGeom>
          <a:solidFill>
            <a:srgbClr val="17E59A"/>
          </a:solidFill>
          <a:ln/>
        </p:spPr>
      </p:sp>
      <p:sp>
        <p:nvSpPr>
          <p:cNvPr id="4" name="Text 2"/>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RIGOR</a:t>
            </a:r>
            <a:endParaRPr lang="en-US" sz="1200" dirty="0"/>
          </a:p>
        </p:txBody>
      </p:sp>
      <p:sp>
        <p:nvSpPr>
          <p:cNvPr id="5" name="Text 3"/>
          <p:cNvSpPr txBox="1"/>
          <p:nvPr/>
        </p:nvSpPr>
        <p:spPr>
          <a:xfrm>
            <a:off x="685800" y="1234440"/>
            <a:ext cx="10607040" cy="1371600"/>
          </a:xfrm>
          <a:prstGeom prst="rect">
            <a:avLst/>
          </a:prstGeom>
          <a:noFill/>
          <a:ln/>
        </p:spPr>
        <p:txBody>
          <a:bodyPr wrap="square" lIns="0" tIns="0" rIns="0" bIns="0" rtlCol="0" anchor="ctr"/>
          <a:lstStyle/>
          <a:p>
            <a:pPr indent="0" marL="0">
              <a:lnSpc>
                <a:spcPct val="100000"/>
              </a:lnSpc>
              <a:buNone/>
            </a:pPr>
            <a:r>
              <a:rPr lang="en-US" sz="4000" b="1" dirty="0">
                <a:solidFill>
                  <a:srgbClr val="F3F3F8"/>
                </a:solidFill>
                <a:latin typeface="Calibri" pitchFamily="34" charset="0"/>
                <a:ea typeface="Calibri" pitchFamily="34" charset="-122"/>
                <a:cs typeface="Calibri" pitchFamily="34" charset="-120"/>
              </a:rPr>
              <a:t>We didn't just use the platform —</a:t>
            </a:r>
            <a:endParaRPr lang="en-US" sz="4000" dirty="0"/>
          </a:p>
          <a:p>
            <a:pPr indent="0" marL="0">
              <a:lnSpc>
                <a:spcPct val="100000"/>
              </a:lnSpc>
              <a:buNone/>
            </a:pPr>
            <a:r>
              <a:rPr lang="en-US" sz="4000" b="1" dirty="0">
                <a:solidFill>
                  <a:srgbClr val="F3F3F8"/>
                </a:solidFill>
                <a:latin typeface="Calibri" pitchFamily="34" charset="0"/>
                <a:ea typeface="Calibri" pitchFamily="34" charset="-122"/>
                <a:cs typeface="Calibri" pitchFamily="34" charset="-120"/>
              </a:rPr>
              <a:t>we </a:t>
            </a:r>
            <a:endParaRPr lang="en-US" sz="4000" dirty="0"/>
          </a:p>
          <a:p>
            <a:pPr indent="0" marL="0">
              <a:lnSpc>
                <a:spcPct val="100000"/>
              </a:lnSpc>
              <a:buNone/>
            </a:pPr>
            <a:r>
              <a:rPr lang="en-US" sz="4000" b="1" dirty="0">
                <a:solidFill>
                  <a:srgbClr val="17E59A"/>
                </a:solidFill>
                <a:latin typeface="Calibri" pitchFamily="34" charset="0"/>
                <a:ea typeface="Calibri" pitchFamily="34" charset="-122"/>
                <a:cs typeface="Calibri" pitchFamily="34" charset="-120"/>
              </a:rPr>
              <a:t>stress-tested</a:t>
            </a:r>
            <a:pPr indent="0" marL="0">
              <a:lnSpc>
                <a:spcPct val="100000"/>
              </a:lnSpc>
              <a:buNone/>
            </a:pPr>
            <a:r>
              <a:rPr lang="en-US" sz="4000" b="1" dirty="0">
                <a:solidFill>
                  <a:srgbClr val="F3F3F8"/>
                </a:solidFill>
                <a:latin typeface="Calibri" pitchFamily="34" charset="0"/>
                <a:ea typeface="Calibri" pitchFamily="34" charset="-122"/>
                <a:cs typeface="Calibri" pitchFamily="34" charset="-120"/>
              </a:rPr>
              <a:t> it.</a:t>
            </a:r>
            <a:endParaRPr lang="en-US" sz="4000" dirty="0"/>
          </a:p>
        </p:txBody>
      </p:sp>
      <p:sp>
        <p:nvSpPr>
          <p:cNvPr id="6" name="Text 4"/>
          <p:cNvSpPr txBox="1"/>
          <p:nvPr/>
        </p:nvSpPr>
        <p:spPr>
          <a:xfrm>
            <a:off x="685800" y="2971800"/>
            <a:ext cx="9509760" cy="1005840"/>
          </a:xfrm>
          <a:prstGeom prst="rect">
            <a:avLst/>
          </a:prstGeom>
          <a:noFill/>
          <a:ln/>
        </p:spPr>
        <p:txBody>
          <a:bodyPr wrap="square" lIns="0" tIns="0" rIns="0" bIns="0" rtlCol="0" anchor="ctr"/>
          <a:lstStyle/>
          <a:p>
            <a:pPr indent="0" marL="0">
              <a:lnSpc>
                <a:spcPct val="120000"/>
              </a:lnSpc>
              <a:buNone/>
            </a:pPr>
            <a:r>
              <a:rPr lang="en-US" sz="1800" dirty="0">
                <a:solidFill>
                  <a:srgbClr val="A2A2B6"/>
                </a:solidFill>
                <a:latin typeface="Calibri" pitchFamily="34" charset="0"/>
                <a:ea typeface="Calibri" pitchFamily="34" charset="-122"/>
                <a:cs typeface="Calibri" pitchFamily="34" charset="-120"/>
              </a:rPr>
              <a:t>Integrating with Thally surfaced </a:t>
            </a:r>
            <a:pPr indent="0" marL="0">
              <a:lnSpc>
                <a:spcPct val="120000"/>
              </a:lnSpc>
              <a:buNone/>
            </a:pPr>
            <a:r>
              <a:rPr lang="en-US" sz="1800" b="1" dirty="0">
                <a:solidFill>
                  <a:srgbClr val="F3F3F8"/>
                </a:solidFill>
                <a:latin typeface="Calibri" pitchFamily="34" charset="0"/>
                <a:ea typeface="Calibri" pitchFamily="34" charset="-122"/>
                <a:cs typeface="Calibri" pitchFamily="34" charset="-120"/>
              </a:rPr>
              <a:t>nine reproducible platform bugs</a:t>
            </a:r>
            <a:pPr indent="0" marL="0">
              <a:lnSpc>
                <a:spcPct val="120000"/>
              </a:lnSpc>
              <a:buNone/>
            </a:pPr>
            <a:r>
              <a:rPr lang="en-US" sz="1800" dirty="0">
                <a:solidFill>
                  <a:srgbClr val="A2A2B6"/>
                </a:solidFill>
                <a:latin typeface="Calibri" pitchFamily="34" charset="0"/>
                <a:ea typeface="Calibri" pitchFamily="34" charset="-122"/>
                <a:cs typeface="Calibri" pitchFamily="34" charset="-120"/>
              </a:rPr>
              <a:t>. Each is documented with a repro, a root cause, and a fix — including two patched in Thally's own runtime to get the site to build.</a:t>
            </a:r>
            <a:endParaRPr lang="en-US" sz="1800" dirty="0"/>
          </a:p>
        </p:txBody>
      </p:sp>
      <p:sp>
        <p:nvSpPr>
          <p:cNvPr id="7" name="Shape 5"/>
          <p:cNvSpPr/>
          <p:nvPr/>
        </p:nvSpPr>
        <p:spPr>
          <a:xfrm>
            <a:off x="685800" y="4297680"/>
            <a:ext cx="2468880" cy="1188720"/>
          </a:xfrm>
          <a:prstGeom prst="roundRect">
            <a:avLst>
              <a:gd name="adj" fmla="val 6923"/>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8" name="Text 6"/>
          <p:cNvSpPr txBox="1"/>
          <p:nvPr/>
        </p:nvSpPr>
        <p:spPr>
          <a:xfrm>
            <a:off x="960120" y="4498848"/>
            <a:ext cx="914400" cy="777240"/>
          </a:xfrm>
          <a:prstGeom prst="rect">
            <a:avLst/>
          </a:prstGeom>
          <a:noFill/>
          <a:ln/>
        </p:spPr>
        <p:txBody>
          <a:bodyPr wrap="square" lIns="0" tIns="0" rIns="0" bIns="0" rtlCol="0" anchor="ctr"/>
          <a:lstStyle/>
          <a:p>
            <a:pPr indent="0" marL="0">
              <a:buNone/>
            </a:pPr>
            <a:r>
              <a:rPr lang="en-US" sz="4400" b="1" dirty="0">
                <a:solidFill>
                  <a:srgbClr val="FF6A5A"/>
                </a:solidFill>
                <a:latin typeface="Calibri" pitchFamily="34" charset="0"/>
                <a:ea typeface="Calibri" pitchFamily="34" charset="-122"/>
                <a:cs typeface="Calibri" pitchFamily="34" charset="-120"/>
              </a:rPr>
              <a:t>3</a:t>
            </a:r>
            <a:endParaRPr lang="en-US" sz="4400" dirty="0"/>
          </a:p>
        </p:txBody>
      </p:sp>
      <p:sp>
        <p:nvSpPr>
          <p:cNvPr id="9" name="Text 7"/>
          <p:cNvSpPr txBox="1"/>
          <p:nvPr/>
        </p:nvSpPr>
        <p:spPr>
          <a:xfrm>
            <a:off x="1920240" y="4700016"/>
            <a:ext cx="1097280" cy="457200"/>
          </a:xfrm>
          <a:prstGeom prst="rect">
            <a:avLst/>
          </a:prstGeom>
          <a:noFill/>
          <a:ln/>
        </p:spPr>
        <p:txBody>
          <a:bodyPr wrap="square" lIns="0" tIns="0" rIns="0" bIns="0" rtlCol="0" anchor="ctr"/>
          <a:lstStyle/>
          <a:p>
            <a:pPr indent="0" marL="0">
              <a:buNone/>
            </a:pPr>
            <a:r>
              <a:rPr lang="en-US" sz="1500" spc="200" kern="0" dirty="0">
                <a:solidFill>
                  <a:srgbClr val="FF6A5A"/>
                </a:solidFill>
                <a:latin typeface="Courier New" pitchFamily="34" charset="0"/>
                <a:ea typeface="Courier New" pitchFamily="34" charset="-122"/>
                <a:cs typeface="Courier New" pitchFamily="34" charset="-120"/>
              </a:rPr>
              <a:t>HIGH</a:t>
            </a:r>
            <a:endParaRPr lang="en-US" sz="1500" dirty="0"/>
          </a:p>
        </p:txBody>
      </p:sp>
      <p:sp>
        <p:nvSpPr>
          <p:cNvPr id="10" name="Shape 8"/>
          <p:cNvSpPr/>
          <p:nvPr/>
        </p:nvSpPr>
        <p:spPr>
          <a:xfrm>
            <a:off x="3429000" y="4297680"/>
            <a:ext cx="2468880" cy="1188720"/>
          </a:xfrm>
          <a:prstGeom prst="roundRect">
            <a:avLst>
              <a:gd name="adj" fmla="val 6923"/>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1" name="Text 9"/>
          <p:cNvSpPr txBox="1"/>
          <p:nvPr/>
        </p:nvSpPr>
        <p:spPr>
          <a:xfrm>
            <a:off x="3703320" y="4498848"/>
            <a:ext cx="914400" cy="777240"/>
          </a:xfrm>
          <a:prstGeom prst="rect">
            <a:avLst/>
          </a:prstGeom>
          <a:noFill/>
          <a:ln/>
        </p:spPr>
        <p:txBody>
          <a:bodyPr wrap="square" lIns="0" tIns="0" rIns="0" bIns="0" rtlCol="0" anchor="ctr"/>
          <a:lstStyle/>
          <a:p>
            <a:pPr indent="0" marL="0">
              <a:buNone/>
            </a:pPr>
            <a:r>
              <a:rPr lang="en-US" sz="4400" b="1" dirty="0">
                <a:solidFill>
                  <a:srgbClr val="FFB454"/>
                </a:solidFill>
                <a:latin typeface="Calibri" pitchFamily="34" charset="0"/>
                <a:ea typeface="Calibri" pitchFamily="34" charset="-122"/>
                <a:cs typeface="Calibri" pitchFamily="34" charset="-120"/>
              </a:rPr>
              <a:t>3</a:t>
            </a:r>
            <a:endParaRPr lang="en-US" sz="4400" dirty="0"/>
          </a:p>
        </p:txBody>
      </p:sp>
      <p:sp>
        <p:nvSpPr>
          <p:cNvPr id="12" name="Text 10"/>
          <p:cNvSpPr txBox="1"/>
          <p:nvPr/>
        </p:nvSpPr>
        <p:spPr>
          <a:xfrm>
            <a:off x="4663440" y="4700016"/>
            <a:ext cx="1097280" cy="457200"/>
          </a:xfrm>
          <a:prstGeom prst="rect">
            <a:avLst/>
          </a:prstGeom>
          <a:noFill/>
          <a:ln/>
        </p:spPr>
        <p:txBody>
          <a:bodyPr wrap="square" lIns="0" tIns="0" rIns="0" bIns="0" rtlCol="0" anchor="ctr"/>
          <a:lstStyle/>
          <a:p>
            <a:pPr indent="0" marL="0">
              <a:buNone/>
            </a:pPr>
            <a:r>
              <a:rPr lang="en-US" sz="1500" spc="200" kern="0" dirty="0">
                <a:solidFill>
                  <a:srgbClr val="FFB454"/>
                </a:solidFill>
                <a:latin typeface="Courier New" pitchFamily="34" charset="0"/>
                <a:ea typeface="Courier New" pitchFamily="34" charset="-122"/>
                <a:cs typeface="Courier New" pitchFamily="34" charset="-120"/>
              </a:rPr>
              <a:t>MEDIUM</a:t>
            </a:r>
            <a:endParaRPr lang="en-US" sz="1500" dirty="0"/>
          </a:p>
        </p:txBody>
      </p:sp>
      <p:sp>
        <p:nvSpPr>
          <p:cNvPr id="13" name="Shape 11"/>
          <p:cNvSpPr/>
          <p:nvPr/>
        </p:nvSpPr>
        <p:spPr>
          <a:xfrm>
            <a:off x="6172200" y="4297680"/>
            <a:ext cx="2468880" cy="1188720"/>
          </a:xfrm>
          <a:prstGeom prst="roundRect">
            <a:avLst>
              <a:gd name="adj" fmla="val 6923"/>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4" name="Text 12"/>
          <p:cNvSpPr txBox="1"/>
          <p:nvPr/>
        </p:nvSpPr>
        <p:spPr>
          <a:xfrm>
            <a:off x="6446520" y="4498848"/>
            <a:ext cx="914400" cy="777240"/>
          </a:xfrm>
          <a:prstGeom prst="rect">
            <a:avLst/>
          </a:prstGeom>
          <a:noFill/>
          <a:ln/>
        </p:spPr>
        <p:txBody>
          <a:bodyPr wrap="square" lIns="0" tIns="0" rIns="0" bIns="0" rtlCol="0" anchor="ctr"/>
          <a:lstStyle/>
          <a:p>
            <a:pPr indent="0" marL="0">
              <a:buNone/>
            </a:pPr>
            <a:r>
              <a:rPr lang="en-US" sz="4400" b="1" dirty="0">
                <a:solidFill>
                  <a:srgbClr val="A06BFF"/>
                </a:solidFill>
                <a:latin typeface="Calibri" pitchFamily="34" charset="0"/>
                <a:ea typeface="Calibri" pitchFamily="34" charset="-122"/>
                <a:cs typeface="Calibri" pitchFamily="34" charset="-120"/>
              </a:rPr>
              <a:t>3</a:t>
            </a:r>
            <a:endParaRPr lang="en-US" sz="4400" dirty="0"/>
          </a:p>
        </p:txBody>
      </p:sp>
      <p:sp>
        <p:nvSpPr>
          <p:cNvPr id="15" name="Text 13"/>
          <p:cNvSpPr txBox="1"/>
          <p:nvPr/>
        </p:nvSpPr>
        <p:spPr>
          <a:xfrm>
            <a:off x="7406640" y="4700016"/>
            <a:ext cx="1097280" cy="457200"/>
          </a:xfrm>
          <a:prstGeom prst="rect">
            <a:avLst/>
          </a:prstGeom>
          <a:noFill/>
          <a:ln/>
        </p:spPr>
        <p:txBody>
          <a:bodyPr wrap="square" lIns="0" tIns="0" rIns="0" bIns="0" rtlCol="0" anchor="ctr"/>
          <a:lstStyle/>
          <a:p>
            <a:pPr indent="0" marL="0">
              <a:buNone/>
            </a:pPr>
            <a:r>
              <a:rPr lang="en-US" sz="1500" spc="200" kern="0" dirty="0">
                <a:solidFill>
                  <a:srgbClr val="A06BFF"/>
                </a:solidFill>
                <a:latin typeface="Courier New" pitchFamily="34" charset="0"/>
                <a:ea typeface="Courier New" pitchFamily="34" charset="-122"/>
                <a:cs typeface="Courier New" pitchFamily="34" charset="-120"/>
              </a:rPr>
              <a:t>LOW</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08</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685800" y="877824"/>
            <a:ext cx="292608" cy="25603"/>
          </a:xfrm>
          <a:prstGeom prst="rect">
            <a:avLst/>
          </a:prstGeom>
          <a:solidFill>
            <a:srgbClr val="17E59A"/>
          </a:solidFill>
          <a:ln/>
        </p:spPr>
      </p:sp>
      <p:sp>
        <p:nvSpPr>
          <p:cNvPr id="4" name="Text 2"/>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UNDER THE HOOD</a:t>
            </a:r>
            <a:endParaRPr lang="en-US" sz="1200" dirty="0"/>
          </a:p>
        </p:txBody>
      </p:sp>
      <p:sp>
        <p:nvSpPr>
          <p:cNvPr id="5" name="Text 3"/>
          <p:cNvSpPr txBox="1"/>
          <p:nvPr/>
        </p:nvSpPr>
        <p:spPr>
          <a:xfrm>
            <a:off x="685800" y="1234440"/>
            <a:ext cx="10607040" cy="822960"/>
          </a:xfrm>
          <a:prstGeom prst="rect">
            <a:avLst/>
          </a:prstGeom>
          <a:noFill/>
          <a:ln/>
        </p:spPr>
        <p:txBody>
          <a:bodyPr wrap="square" lIns="0" tIns="0" rIns="0" bIns="0" rtlCol="0" anchor="ctr"/>
          <a:lstStyle/>
          <a:p>
            <a:pPr indent="0" marL="0">
              <a:buNone/>
            </a:pPr>
            <a:r>
              <a:rPr lang="en-US" sz="3800" b="1" dirty="0">
                <a:solidFill>
                  <a:srgbClr val="F3F3F8"/>
                </a:solidFill>
                <a:latin typeface="Calibri" pitchFamily="34" charset="0"/>
                <a:ea typeface="Calibri" pitchFamily="34" charset="-122"/>
                <a:cs typeface="Calibri" pitchFamily="34" charset="-120"/>
              </a:rPr>
              <a:t>Small, honest, dependency-light.</a:t>
            </a:r>
            <a:endParaRPr lang="en-US" sz="3800" dirty="0"/>
          </a:p>
        </p:txBody>
      </p:sp>
      <p:sp>
        <p:nvSpPr>
          <p:cNvPr id="6" name="Shape 4"/>
          <p:cNvSpPr/>
          <p:nvPr/>
        </p:nvSpPr>
        <p:spPr>
          <a:xfrm>
            <a:off x="685800" y="2386584"/>
            <a:ext cx="201168" cy="201168"/>
          </a:xfrm>
          <a:prstGeom prst="ellipse">
            <a:avLst/>
          </a:prstGeom>
          <a:solidFill>
            <a:srgbClr val="17E59A"/>
          </a:solidFill>
          <a:ln/>
        </p:spPr>
      </p:sp>
      <p:sp>
        <p:nvSpPr>
          <p:cNvPr id="7" name="Text 5"/>
          <p:cNvSpPr txBox="1"/>
          <p:nvPr/>
        </p:nvSpPr>
        <p:spPr>
          <a:xfrm>
            <a:off x="1097280" y="2331720"/>
            <a:ext cx="3017520" cy="640080"/>
          </a:xfrm>
          <a:prstGeom prst="rect">
            <a:avLst/>
          </a:prstGeom>
          <a:noFill/>
          <a:ln/>
        </p:spPr>
        <p:txBody>
          <a:bodyPr wrap="square" lIns="0" tIns="0" rIns="0" bIns="0" rtlCol="0" anchor="t"/>
          <a:lstStyle/>
          <a:p>
            <a:pPr indent="0" marL="0">
              <a:buNone/>
            </a:pPr>
            <a:r>
              <a:rPr lang="en-US" sz="1800" b="1" dirty="0">
                <a:solidFill>
                  <a:srgbClr val="F3F3F8"/>
                </a:solidFill>
                <a:latin typeface="Calibri" pitchFamily="34" charset="0"/>
                <a:ea typeface="Calibri" pitchFamily="34" charset="-122"/>
                <a:cs typeface="Calibri" pitchFamily="34" charset="-120"/>
              </a:rPr>
              <a:t>MCP over stdio</a:t>
            </a:r>
            <a:endParaRPr lang="en-US" sz="1800" dirty="0"/>
          </a:p>
        </p:txBody>
      </p:sp>
      <p:sp>
        <p:nvSpPr>
          <p:cNvPr id="8" name="Text 6"/>
          <p:cNvSpPr txBox="1"/>
          <p:nvPr/>
        </p:nvSpPr>
        <p:spPr>
          <a:xfrm>
            <a:off x="4343400" y="2331720"/>
            <a:ext cx="7680960" cy="804672"/>
          </a:xfrm>
          <a:prstGeom prst="rect">
            <a:avLst/>
          </a:prstGeom>
          <a:noFill/>
          <a:ln/>
        </p:spPr>
        <p:txBody>
          <a:bodyPr wrap="square" lIns="0" tIns="0" rIns="0" bIns="0" rtlCol="0" anchor="t"/>
          <a:lstStyle/>
          <a:p>
            <a:pPr indent="0" marL="0">
              <a:lnSpc>
                <a:spcPct val="118000"/>
              </a:lnSpc>
              <a:buNone/>
            </a:pPr>
            <a:r>
              <a:rPr lang="en-US" sz="1450" dirty="0">
                <a:solidFill>
                  <a:srgbClr val="A2A2B6"/>
                </a:solidFill>
                <a:latin typeface="Calibri" pitchFamily="34" charset="0"/>
                <a:ea typeface="Calibri" pitchFamily="34" charset="-122"/>
                <a:cs typeface="Calibri" pitchFamily="34" charset="-120"/>
              </a:rPr>
              <a:t>TypeScript, strict mode, zod-validated inputs; every tool call wrapped so an error is returned, never crashes the transport.</a:t>
            </a:r>
            <a:endParaRPr lang="en-US" sz="1450" dirty="0"/>
          </a:p>
        </p:txBody>
      </p:sp>
      <p:sp>
        <p:nvSpPr>
          <p:cNvPr id="9" name="Shape 7"/>
          <p:cNvSpPr/>
          <p:nvPr/>
        </p:nvSpPr>
        <p:spPr>
          <a:xfrm>
            <a:off x="685800" y="3282696"/>
            <a:ext cx="201168" cy="201168"/>
          </a:xfrm>
          <a:prstGeom prst="ellipse">
            <a:avLst/>
          </a:prstGeom>
          <a:solidFill>
            <a:srgbClr val="17E59A"/>
          </a:solidFill>
          <a:ln/>
        </p:spPr>
      </p:sp>
      <p:sp>
        <p:nvSpPr>
          <p:cNvPr id="10" name="Text 8"/>
          <p:cNvSpPr txBox="1"/>
          <p:nvPr/>
        </p:nvSpPr>
        <p:spPr>
          <a:xfrm>
            <a:off x="1097280" y="3227832"/>
            <a:ext cx="3017520" cy="640080"/>
          </a:xfrm>
          <a:prstGeom prst="rect">
            <a:avLst/>
          </a:prstGeom>
          <a:noFill/>
          <a:ln/>
        </p:spPr>
        <p:txBody>
          <a:bodyPr wrap="square" lIns="0" tIns="0" rIns="0" bIns="0" rtlCol="0" anchor="t"/>
          <a:lstStyle/>
          <a:p>
            <a:pPr indent="0" marL="0">
              <a:buNone/>
            </a:pPr>
            <a:r>
              <a:rPr lang="en-US" sz="1800" b="1" dirty="0">
                <a:solidFill>
                  <a:srgbClr val="F3F3F8"/>
                </a:solidFill>
                <a:latin typeface="Calibri" pitchFamily="34" charset="0"/>
                <a:ea typeface="Calibri" pitchFamily="34" charset="-122"/>
                <a:cs typeface="Calibri" pitchFamily="34" charset="-120"/>
              </a:rPr>
              <a:t>Hybrid get_docs</a:t>
            </a:r>
            <a:endParaRPr lang="en-US" sz="1800" dirty="0"/>
          </a:p>
        </p:txBody>
      </p:sp>
      <p:sp>
        <p:nvSpPr>
          <p:cNvPr id="11" name="Text 9"/>
          <p:cNvSpPr txBox="1"/>
          <p:nvPr/>
        </p:nvSpPr>
        <p:spPr>
          <a:xfrm>
            <a:off x="4343400" y="3227832"/>
            <a:ext cx="7680960" cy="804672"/>
          </a:xfrm>
          <a:prstGeom prst="rect">
            <a:avLst/>
          </a:prstGeom>
          <a:noFill/>
          <a:ln/>
        </p:spPr>
        <p:txBody>
          <a:bodyPr wrap="square" lIns="0" tIns="0" rIns="0" bIns="0" rtlCol="0" anchor="t"/>
          <a:lstStyle/>
          <a:p>
            <a:pPr indent="0" marL="0">
              <a:lnSpc>
                <a:spcPct val="118000"/>
              </a:lnSpc>
              <a:buNone/>
            </a:pPr>
            <a:r>
              <a:rPr lang="en-US" sz="1450" dirty="0">
                <a:solidFill>
                  <a:srgbClr val="A2A2B6"/>
                </a:solidFill>
                <a:latin typeface="Calibri" pitchFamily="34" charset="0"/>
                <a:ea typeface="Calibri" pitchFamily="34" charset="-122"/>
                <a:cs typeface="Calibri" pitchFamily="34" charset="-120"/>
              </a:rPr>
              <a:t>Local BM25 by default (offline, keyless); upgrades to OpenRouter embeddings when a key is present — one interface.</a:t>
            </a:r>
            <a:endParaRPr lang="en-US" sz="1450" dirty="0"/>
          </a:p>
        </p:txBody>
      </p:sp>
      <p:sp>
        <p:nvSpPr>
          <p:cNvPr id="12" name="Shape 10"/>
          <p:cNvSpPr/>
          <p:nvPr/>
        </p:nvSpPr>
        <p:spPr>
          <a:xfrm>
            <a:off x="685800" y="4178808"/>
            <a:ext cx="201168" cy="201168"/>
          </a:xfrm>
          <a:prstGeom prst="ellipse">
            <a:avLst/>
          </a:prstGeom>
          <a:solidFill>
            <a:srgbClr val="17E59A"/>
          </a:solidFill>
          <a:ln/>
        </p:spPr>
      </p:sp>
      <p:sp>
        <p:nvSpPr>
          <p:cNvPr id="13" name="Text 11"/>
          <p:cNvSpPr txBox="1"/>
          <p:nvPr/>
        </p:nvSpPr>
        <p:spPr>
          <a:xfrm>
            <a:off x="1097280" y="4123944"/>
            <a:ext cx="3017520" cy="640080"/>
          </a:xfrm>
          <a:prstGeom prst="rect">
            <a:avLst/>
          </a:prstGeom>
          <a:noFill/>
          <a:ln/>
        </p:spPr>
        <p:txBody>
          <a:bodyPr wrap="square" lIns="0" tIns="0" rIns="0" bIns="0" rtlCol="0" anchor="t"/>
          <a:lstStyle/>
          <a:p>
            <a:pPr indent="0" marL="0">
              <a:buNone/>
            </a:pPr>
            <a:r>
              <a:rPr lang="en-US" sz="1800" b="1" dirty="0">
                <a:solidFill>
                  <a:srgbClr val="F3F3F8"/>
                </a:solidFill>
                <a:latin typeface="Calibri" pitchFamily="34" charset="0"/>
                <a:ea typeface="Calibri" pitchFamily="34" charset="-122"/>
                <a:cs typeface="Calibri" pitchFamily="34" charset="-120"/>
              </a:rPr>
              <a:t>Live chain reads</a:t>
            </a:r>
            <a:endParaRPr lang="en-US" sz="1800" dirty="0"/>
          </a:p>
        </p:txBody>
      </p:sp>
      <p:sp>
        <p:nvSpPr>
          <p:cNvPr id="14" name="Text 12"/>
          <p:cNvSpPr txBox="1"/>
          <p:nvPr/>
        </p:nvSpPr>
        <p:spPr>
          <a:xfrm>
            <a:off x="4343400" y="4123944"/>
            <a:ext cx="7680960" cy="804672"/>
          </a:xfrm>
          <a:prstGeom prst="rect">
            <a:avLst/>
          </a:prstGeom>
          <a:noFill/>
          <a:ln/>
        </p:spPr>
        <p:txBody>
          <a:bodyPr wrap="square" lIns="0" tIns="0" rIns="0" bIns="0" rtlCol="0" anchor="t"/>
          <a:lstStyle/>
          <a:p>
            <a:pPr indent="0" marL="0">
              <a:lnSpc>
                <a:spcPct val="118000"/>
              </a:lnSpc>
              <a:buNone/>
            </a:pPr>
            <a:r>
              <a:rPr lang="en-US" sz="1450" dirty="0">
                <a:solidFill>
                  <a:srgbClr val="A2A2B6"/>
                </a:solidFill>
                <a:latin typeface="Calibri" pitchFamily="34" charset="0"/>
                <a:ea typeface="Calibri" pitchFamily="34" charset="-122"/>
                <a:cs typeface="Calibri" pitchFamily="34" charset="-120"/>
              </a:rPr>
              <a:t>Via @solana/web3.js, cached 5s to spare the RPC endpoint.</a:t>
            </a:r>
            <a:endParaRPr lang="en-US" sz="1450" dirty="0"/>
          </a:p>
        </p:txBody>
      </p:sp>
      <p:sp>
        <p:nvSpPr>
          <p:cNvPr id="15" name="Shape 13"/>
          <p:cNvSpPr/>
          <p:nvPr/>
        </p:nvSpPr>
        <p:spPr>
          <a:xfrm>
            <a:off x="685800" y="5074920"/>
            <a:ext cx="201168" cy="201168"/>
          </a:xfrm>
          <a:prstGeom prst="ellipse">
            <a:avLst/>
          </a:prstGeom>
          <a:solidFill>
            <a:srgbClr val="17E59A"/>
          </a:solidFill>
          <a:ln/>
        </p:spPr>
      </p:sp>
      <p:sp>
        <p:nvSpPr>
          <p:cNvPr id="16" name="Text 14"/>
          <p:cNvSpPr txBox="1"/>
          <p:nvPr/>
        </p:nvSpPr>
        <p:spPr>
          <a:xfrm>
            <a:off x="1097280" y="5020056"/>
            <a:ext cx="3017520" cy="640080"/>
          </a:xfrm>
          <a:prstGeom prst="rect">
            <a:avLst/>
          </a:prstGeom>
          <a:noFill/>
          <a:ln/>
        </p:spPr>
        <p:txBody>
          <a:bodyPr wrap="square" lIns="0" tIns="0" rIns="0" bIns="0" rtlCol="0" anchor="t"/>
          <a:lstStyle/>
          <a:p>
            <a:pPr indent="0" marL="0">
              <a:buNone/>
            </a:pPr>
            <a:r>
              <a:rPr lang="en-US" sz="1800" b="1" dirty="0">
                <a:solidFill>
                  <a:srgbClr val="F3F3F8"/>
                </a:solidFill>
                <a:latin typeface="Calibri" pitchFamily="34" charset="0"/>
                <a:ea typeface="Calibri" pitchFamily="34" charset="-122"/>
                <a:cs typeface="Calibri" pitchFamily="34" charset="-120"/>
              </a:rPr>
              <a:t>Self-syncing docs</a:t>
            </a:r>
            <a:endParaRPr lang="en-US" sz="1800" dirty="0"/>
          </a:p>
        </p:txBody>
      </p:sp>
      <p:sp>
        <p:nvSpPr>
          <p:cNvPr id="17" name="Text 15"/>
          <p:cNvSpPr txBox="1"/>
          <p:nvPr/>
        </p:nvSpPr>
        <p:spPr>
          <a:xfrm>
            <a:off x="4343400" y="5020056"/>
            <a:ext cx="7680960" cy="804672"/>
          </a:xfrm>
          <a:prstGeom prst="rect">
            <a:avLst/>
          </a:prstGeom>
          <a:noFill/>
          <a:ln/>
        </p:spPr>
        <p:txBody>
          <a:bodyPr wrap="square" lIns="0" tIns="0" rIns="0" bIns="0" rtlCol="0" anchor="t"/>
          <a:lstStyle/>
          <a:p>
            <a:pPr indent="0" marL="0">
              <a:lnSpc>
                <a:spcPct val="118000"/>
              </a:lnSpc>
              <a:buNone/>
            </a:pPr>
            <a:r>
              <a:rPr lang="en-US" sz="1450" dirty="0">
                <a:solidFill>
                  <a:srgbClr val="A2A2B6"/>
                </a:solidFill>
                <a:latin typeface="Calibri" pitchFamily="34" charset="0"/>
                <a:ea typeface="Calibri" pitchFamily="34" charset="-122"/>
                <a:cs typeface="Calibri" pitchFamily="34" charset="-120"/>
              </a:rPr>
              <a:t>A Thally (Next.js) site: docs.json + src/content/*.mdx, deployed on Vercel, kept current by Track.</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F"/>
        </a:solidFill>
      </p:bgPr>
    </p:bg>
    <p:spTree>
      <p:nvGrpSpPr>
        <p:cNvPr id="1" name=""/>
        <p:cNvGrpSpPr/>
        <p:nvPr/>
      </p:nvGrpSpPr>
      <p:grpSpPr>
        <a:xfrm>
          <a:off x="0" y="0"/>
          <a:ext cx="0" cy="0"/>
          <a:chOff x="0" y="0"/>
          <a:chExt cx="0" cy="0"/>
        </a:xfrm>
      </p:grpSpPr>
      <p:sp>
        <p:nvSpPr>
          <p:cNvPr id="2" name="Text 0"/>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09</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3" name="Shape 1"/>
          <p:cNvSpPr/>
          <p:nvPr/>
        </p:nvSpPr>
        <p:spPr>
          <a:xfrm>
            <a:off x="8595360" y="-2011680"/>
            <a:ext cx="4937760" cy="4937760"/>
          </a:xfrm>
          <a:prstGeom prst="ellipse">
            <a:avLst/>
          </a:prstGeom>
          <a:solidFill>
            <a:srgbClr val="17E59A">
              <a:alpha val="10000"/>
            </a:srgbClr>
          </a:solidFill>
          <a:ln/>
        </p:spPr>
      </p:sp>
      <p:sp>
        <p:nvSpPr>
          <p:cNvPr id="4" name="Shape 2"/>
          <p:cNvSpPr/>
          <p:nvPr/>
        </p:nvSpPr>
        <p:spPr>
          <a:xfrm>
            <a:off x="685800" y="877824"/>
            <a:ext cx="292608" cy="25603"/>
          </a:xfrm>
          <a:prstGeom prst="rect">
            <a:avLst/>
          </a:prstGeom>
          <a:solidFill>
            <a:srgbClr val="17E59A"/>
          </a:solidFill>
          <a:ln/>
        </p:spPr>
      </p:sp>
      <p:sp>
        <p:nvSpPr>
          <p:cNvPr id="5" name="Text 3"/>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WHY IT MATTERS</a:t>
            </a:r>
            <a:endParaRPr lang="en-US" sz="1200" dirty="0"/>
          </a:p>
        </p:txBody>
      </p:sp>
      <p:sp>
        <p:nvSpPr>
          <p:cNvPr id="6" name="Text 4"/>
          <p:cNvSpPr txBox="1"/>
          <p:nvPr/>
        </p:nvSpPr>
        <p:spPr>
          <a:xfrm>
            <a:off x="685800" y="1920240"/>
            <a:ext cx="10607040" cy="1828800"/>
          </a:xfrm>
          <a:prstGeom prst="rect">
            <a:avLst/>
          </a:prstGeom>
          <a:noFill/>
          <a:ln/>
        </p:spPr>
        <p:txBody>
          <a:bodyPr wrap="square" lIns="0" tIns="0" rIns="0" bIns="0" rtlCol="0" anchor="ctr"/>
          <a:lstStyle/>
          <a:p>
            <a:pPr indent="0" marL="0">
              <a:lnSpc>
                <a:spcPct val="100000"/>
              </a:lnSpc>
              <a:buNone/>
            </a:pPr>
            <a:r>
              <a:rPr lang="en-US" sz="4600" b="1" dirty="0">
                <a:solidFill>
                  <a:srgbClr val="F3F3F8"/>
                </a:solidFill>
                <a:latin typeface="Calibri" pitchFamily="34" charset="0"/>
                <a:ea typeface="Calibri" pitchFamily="34" charset="-122"/>
                <a:cs typeface="Calibri" pitchFamily="34" charset="-120"/>
              </a:rPr>
              <a:t>Agents are only as reliable as the
</a:t>
            </a:r>
            <a:pPr indent="0" marL="0">
              <a:lnSpc>
                <a:spcPct val="100000"/>
              </a:lnSpc>
              <a:buNone/>
            </a:pPr>
            <a:r>
              <a:rPr lang="en-US" sz="4600" b="1" dirty="0">
                <a:solidFill>
                  <a:srgbClr val="17E59A"/>
                </a:solidFill>
                <a:latin typeface="Calibri" pitchFamily="34" charset="0"/>
                <a:ea typeface="Calibri" pitchFamily="34" charset="-122"/>
                <a:cs typeface="Calibri" pitchFamily="34" charset="-120"/>
              </a:rPr>
              <a:t>context they're given.</a:t>
            </a:r>
            <a:endParaRPr lang="en-US" sz="4600" dirty="0"/>
          </a:p>
        </p:txBody>
      </p:sp>
      <p:sp>
        <p:nvSpPr>
          <p:cNvPr id="7" name="Text 5"/>
          <p:cNvSpPr txBox="1"/>
          <p:nvPr/>
        </p:nvSpPr>
        <p:spPr>
          <a:xfrm>
            <a:off x="685800" y="4023360"/>
            <a:ext cx="9509760" cy="1280160"/>
          </a:xfrm>
          <a:prstGeom prst="rect">
            <a:avLst/>
          </a:prstGeom>
          <a:noFill/>
          <a:ln/>
        </p:spPr>
        <p:txBody>
          <a:bodyPr wrap="square" lIns="0" tIns="0" rIns="0" bIns="0" rtlCol="0" anchor="ctr"/>
          <a:lstStyle/>
          <a:p>
            <a:pPr indent="0" marL="0">
              <a:lnSpc>
                <a:spcPct val="120000"/>
              </a:lnSpc>
              <a:buNone/>
            </a:pPr>
            <a:r>
              <a:rPr lang="en-US" sz="1900" dirty="0">
                <a:solidFill>
                  <a:srgbClr val="A2A2B6"/>
                </a:solidFill>
                <a:latin typeface="Calibri" pitchFamily="34" charset="0"/>
                <a:ea typeface="Calibri" pitchFamily="34" charset="-122"/>
                <a:cs typeface="Calibri" pitchFamily="34" charset="-120"/>
              </a:rPr>
              <a:t>solctx is a template for a broader idea: give AI agents live, structured, </a:t>
            </a:r>
            <a:pPr indent="0" marL="0">
              <a:lnSpc>
                <a:spcPct val="120000"/>
              </a:lnSpc>
              <a:buNone/>
            </a:pPr>
            <a:r>
              <a:rPr lang="en-US" sz="1900" b="1" dirty="0">
                <a:solidFill>
                  <a:srgbClr val="F3F3F8"/>
                </a:solidFill>
                <a:latin typeface="Calibri" pitchFamily="34" charset="0"/>
                <a:ea typeface="Calibri" pitchFamily="34" charset="-122"/>
                <a:cs typeface="Calibri" pitchFamily="34" charset="-120"/>
              </a:rPr>
              <a:t>self-verifying</a:t>
            </a:r>
            <a:pPr indent="0" marL="0">
              <a:lnSpc>
                <a:spcPct val="120000"/>
              </a:lnSpc>
              <a:buNone/>
            </a:pPr>
            <a:r>
              <a:rPr lang="en-US" sz="1900" dirty="0">
                <a:solidFill>
                  <a:srgbClr val="A2A2B6"/>
                </a:solidFill>
                <a:latin typeface="Calibri" pitchFamily="34" charset="0"/>
                <a:ea typeface="Calibri" pitchFamily="34" charset="-122"/>
                <a:cs typeface="Calibri" pitchFamily="34" charset="-120"/>
              </a:rPr>
              <a:t> access to a fast-moving system — and keep the human-readable docs and the agent-readable context as one source that can't quietly rot.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2377440" y="3657600"/>
            <a:ext cx="5486400" cy="5486400"/>
          </a:xfrm>
          <a:prstGeom prst="ellipse">
            <a:avLst/>
          </a:prstGeom>
          <a:solidFill>
            <a:srgbClr val="A06BFF">
              <a:alpha val="10000"/>
            </a:srgbClr>
          </a:solidFill>
          <a:ln/>
        </p:spPr>
      </p:sp>
      <p:sp>
        <p:nvSpPr>
          <p:cNvPr id="3" name="Shape 1"/>
          <p:cNvSpPr/>
          <p:nvPr/>
        </p:nvSpPr>
        <p:spPr>
          <a:xfrm>
            <a:off x="8229600" y="-2377440"/>
            <a:ext cx="5303520" cy="5303520"/>
          </a:xfrm>
          <a:prstGeom prst="ellipse">
            <a:avLst/>
          </a:prstGeom>
          <a:solidFill>
            <a:srgbClr val="17E59A">
              <a:alpha val="10000"/>
            </a:srgbClr>
          </a:solidFill>
          <a:ln/>
        </p:spPr>
      </p:sp>
      <p:sp>
        <p:nvSpPr>
          <p:cNvPr id="4" name="Text 2"/>
          <p:cNvSpPr txBox="1"/>
          <p:nvPr/>
        </p:nvSpPr>
        <p:spPr>
          <a:xfrm>
            <a:off x="10177272" y="384048"/>
            <a:ext cx="1554480" cy="274320"/>
          </a:xfrm>
          <a:prstGeom prst="rect">
            <a:avLst/>
          </a:prstGeom>
          <a:noFill/>
          <a:ln/>
        </p:spPr>
        <p:txBody>
          <a:bodyPr wrap="square" lIns="0" tIns="0" rIns="0" bIns="0" rtlCol="0" anchor="ctr"/>
          <a:lstStyle/>
          <a:p>
            <a:pPr algn="r" indent="0" marL="0">
              <a:buNone/>
            </a:pPr>
            <a:r>
              <a:rPr lang="en-US" sz="1100" dirty="0">
                <a:solidFill>
                  <a:srgbClr val="17E59A"/>
                </a:solidFill>
                <a:latin typeface="Courier New" pitchFamily="34" charset="0"/>
                <a:ea typeface="Courier New" pitchFamily="34" charset="-122"/>
                <a:cs typeface="Courier New" pitchFamily="34" charset="-120"/>
              </a:rPr>
              <a:t>10</a:t>
            </a:r>
            <a:pPr algn="r" indent="0" marL="0">
              <a:buNone/>
            </a:pPr>
            <a:r>
              <a:rPr lang="en-US" sz="1100" dirty="0">
                <a:solidFill>
                  <a:srgbClr val="6F6F86"/>
                </a:solidFill>
                <a:latin typeface="Courier New" pitchFamily="34" charset="0"/>
                <a:ea typeface="Courier New" pitchFamily="34" charset="-122"/>
                <a:cs typeface="Courier New" pitchFamily="34" charset="-120"/>
              </a:rPr>
              <a:t>  /  10</a:t>
            </a:r>
            <a:endParaRPr lang="en-US" sz="1100" dirty="0"/>
          </a:p>
        </p:txBody>
      </p:sp>
      <p:sp>
        <p:nvSpPr>
          <p:cNvPr id="5" name="Shape 3"/>
          <p:cNvSpPr/>
          <p:nvPr/>
        </p:nvSpPr>
        <p:spPr>
          <a:xfrm>
            <a:off x="685800" y="877824"/>
            <a:ext cx="292608" cy="25603"/>
          </a:xfrm>
          <a:prstGeom prst="rect">
            <a:avLst/>
          </a:prstGeom>
          <a:solidFill>
            <a:srgbClr val="17E59A"/>
          </a:solidFill>
          <a:ln/>
        </p:spPr>
      </p:sp>
      <p:sp>
        <p:nvSpPr>
          <p:cNvPr id="6" name="Text 4"/>
          <p:cNvSpPr txBox="1"/>
          <p:nvPr/>
        </p:nvSpPr>
        <p:spPr>
          <a:xfrm>
            <a:off x="1097280" y="777240"/>
            <a:ext cx="8229600" cy="292608"/>
          </a:xfrm>
          <a:prstGeom prst="rect">
            <a:avLst/>
          </a:prstGeom>
          <a:noFill/>
          <a:ln/>
        </p:spPr>
        <p:txBody>
          <a:bodyPr wrap="square" lIns="0" tIns="0" rIns="0" bIns="0" rtlCol="0" anchor="ctr"/>
          <a:lstStyle/>
          <a:p>
            <a:pPr indent="0" marL="0">
              <a:buNone/>
            </a:pPr>
            <a:r>
              <a:rPr lang="en-US" sz="1200" b="1" spc="300" kern="0" dirty="0">
                <a:solidFill>
                  <a:srgbClr val="17E59A"/>
                </a:solidFill>
                <a:latin typeface="Courier New" pitchFamily="34" charset="0"/>
                <a:ea typeface="Courier New" pitchFamily="34" charset="-122"/>
                <a:cs typeface="Courier New" pitchFamily="34" charset="-120"/>
              </a:rPr>
              <a:t>SEE IT</a:t>
            </a:r>
            <a:endParaRPr lang="en-US" sz="1200" dirty="0"/>
          </a:p>
        </p:txBody>
      </p:sp>
      <p:sp>
        <p:nvSpPr>
          <p:cNvPr id="7" name="Text 5"/>
          <p:cNvSpPr txBox="1"/>
          <p:nvPr/>
        </p:nvSpPr>
        <p:spPr>
          <a:xfrm>
            <a:off x="685800" y="1371600"/>
            <a:ext cx="10058400" cy="1188720"/>
          </a:xfrm>
          <a:prstGeom prst="rect">
            <a:avLst/>
          </a:prstGeom>
          <a:noFill/>
          <a:ln/>
        </p:spPr>
        <p:txBody>
          <a:bodyPr wrap="square" lIns="0" tIns="0" rIns="0" bIns="0" rtlCol="0" anchor="ctr"/>
          <a:lstStyle/>
          <a:p>
            <a:pPr indent="0" marL="0">
              <a:buNone/>
            </a:pPr>
            <a:r>
              <a:rPr lang="en-US" sz="6400" b="1" dirty="0">
                <a:solidFill>
                  <a:srgbClr val="F3F3F8"/>
                </a:solidFill>
                <a:latin typeface="Calibri" pitchFamily="34" charset="0"/>
                <a:ea typeface="Calibri" pitchFamily="34" charset="-122"/>
                <a:cs typeface="Calibri" pitchFamily="34" charset="-120"/>
              </a:rPr>
              <a:t>Try solctx.</a:t>
            </a:r>
            <a:endParaRPr lang="en-US" sz="6400" dirty="0"/>
          </a:p>
        </p:txBody>
      </p:sp>
      <p:sp>
        <p:nvSpPr>
          <p:cNvPr id="8" name="Shape 6"/>
          <p:cNvSpPr/>
          <p:nvPr/>
        </p:nvSpPr>
        <p:spPr>
          <a:xfrm>
            <a:off x="685800" y="2880360"/>
            <a:ext cx="5120640" cy="868680"/>
          </a:xfrm>
          <a:prstGeom prst="roundRect">
            <a:avLst>
              <a:gd name="adj" fmla="val 9474"/>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9" name="Text 7"/>
          <p:cNvSpPr txBox="1"/>
          <p:nvPr/>
        </p:nvSpPr>
        <p:spPr>
          <a:xfrm>
            <a:off x="941832" y="3008376"/>
            <a:ext cx="4663440" cy="256032"/>
          </a:xfrm>
          <a:prstGeom prst="rect">
            <a:avLst/>
          </a:prstGeom>
          <a:noFill/>
          <a:ln/>
        </p:spPr>
        <p:txBody>
          <a:bodyPr wrap="square" lIns="0" tIns="0" rIns="0" bIns="0" rtlCol="0" anchor="ctr"/>
          <a:lstStyle/>
          <a:p>
            <a:pPr indent="0" marL="0">
              <a:buNone/>
            </a:pPr>
            <a:r>
              <a:rPr lang="en-US" sz="1050" spc="200" kern="0" dirty="0">
                <a:solidFill>
                  <a:srgbClr val="6F6F86"/>
                </a:solidFill>
                <a:latin typeface="Courier New" pitchFamily="34" charset="0"/>
                <a:ea typeface="Courier New" pitchFamily="34" charset="-122"/>
                <a:cs typeface="Courier New" pitchFamily="34" charset="-120"/>
              </a:rPr>
              <a:t>LIVE DOCS</a:t>
            </a:r>
            <a:endParaRPr lang="en-US" sz="1050" dirty="0"/>
          </a:p>
        </p:txBody>
      </p:sp>
      <p:sp>
        <p:nvSpPr>
          <p:cNvPr id="10" name="Text 8"/>
          <p:cNvSpPr txBox="1"/>
          <p:nvPr/>
        </p:nvSpPr>
        <p:spPr>
          <a:xfrm>
            <a:off x="941832" y="3282696"/>
            <a:ext cx="4663440" cy="365760"/>
          </a:xfrm>
          <a:prstGeom prst="rect">
            <a:avLst/>
          </a:prstGeom>
          <a:noFill/>
          <a:ln/>
        </p:spPr>
        <p:txBody>
          <a:bodyPr wrap="square" lIns="0" tIns="0" rIns="0" bIns="0" rtlCol="0" anchor="ctr"/>
          <a:lstStyle/>
          <a:p>
            <a:pPr indent="0" marL="0">
              <a:buNone/>
            </a:pPr>
            <a:r>
              <a:rPr lang="en-US" sz="1500" b="1" dirty="0">
                <a:solidFill>
                  <a:srgbClr val="17E59A"/>
                </a:solidFill>
                <a:latin typeface="Calibri" pitchFamily="34" charset="0"/>
                <a:ea typeface="Calibri" pitchFamily="34" charset="-122"/>
                <a:cs typeface="Calibri" pitchFamily="34" charset="-120"/>
              </a:rPr>
              <a:t>solctx-docs.vercel.app</a:t>
            </a:r>
            <a:endParaRPr lang="en-US" sz="1500" dirty="0"/>
          </a:p>
        </p:txBody>
      </p:sp>
      <p:sp>
        <p:nvSpPr>
          <p:cNvPr id="11" name="Shape 9"/>
          <p:cNvSpPr/>
          <p:nvPr/>
        </p:nvSpPr>
        <p:spPr>
          <a:xfrm>
            <a:off x="6080760" y="2880360"/>
            <a:ext cx="5120640" cy="868680"/>
          </a:xfrm>
          <a:prstGeom prst="roundRect">
            <a:avLst>
              <a:gd name="adj" fmla="val 9474"/>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2" name="Text 10"/>
          <p:cNvSpPr txBox="1"/>
          <p:nvPr/>
        </p:nvSpPr>
        <p:spPr>
          <a:xfrm>
            <a:off x="6336792" y="3008376"/>
            <a:ext cx="4663440" cy="256032"/>
          </a:xfrm>
          <a:prstGeom prst="rect">
            <a:avLst/>
          </a:prstGeom>
          <a:noFill/>
          <a:ln/>
        </p:spPr>
        <p:txBody>
          <a:bodyPr wrap="square" lIns="0" tIns="0" rIns="0" bIns="0" rtlCol="0" anchor="ctr"/>
          <a:lstStyle/>
          <a:p>
            <a:pPr indent="0" marL="0">
              <a:buNone/>
            </a:pPr>
            <a:r>
              <a:rPr lang="en-US" sz="1050" spc="200" kern="0" dirty="0">
                <a:solidFill>
                  <a:srgbClr val="6F6F86"/>
                </a:solidFill>
                <a:latin typeface="Courier New" pitchFamily="34" charset="0"/>
                <a:ea typeface="Courier New" pitchFamily="34" charset="-122"/>
                <a:cs typeface="Courier New" pitchFamily="34" charset="-120"/>
              </a:rPr>
              <a:t>SERVER REPO</a:t>
            </a:r>
            <a:endParaRPr lang="en-US" sz="1050" dirty="0"/>
          </a:p>
        </p:txBody>
      </p:sp>
      <p:sp>
        <p:nvSpPr>
          <p:cNvPr id="13" name="Text 11"/>
          <p:cNvSpPr txBox="1"/>
          <p:nvPr/>
        </p:nvSpPr>
        <p:spPr>
          <a:xfrm>
            <a:off x="6336792" y="3282696"/>
            <a:ext cx="4663440" cy="365760"/>
          </a:xfrm>
          <a:prstGeom prst="rect">
            <a:avLst/>
          </a:prstGeom>
          <a:noFill/>
          <a:ln/>
        </p:spPr>
        <p:txBody>
          <a:bodyPr wrap="square" lIns="0" tIns="0" rIns="0" bIns="0" rtlCol="0" anchor="ctr"/>
          <a:lstStyle/>
          <a:p>
            <a:pPr indent="0" marL="0">
              <a:buNone/>
            </a:pPr>
            <a:r>
              <a:rPr lang="en-US" sz="1500" b="1" dirty="0">
                <a:solidFill>
                  <a:srgbClr val="17E59A"/>
                </a:solidFill>
                <a:latin typeface="Calibri" pitchFamily="34" charset="0"/>
                <a:ea typeface="Calibri" pitchFamily="34" charset="-122"/>
                <a:cs typeface="Calibri" pitchFamily="34" charset="-120"/>
              </a:rPr>
              <a:t>github.com/Demiladepy/solctx</a:t>
            </a:r>
            <a:endParaRPr lang="en-US" sz="1500" dirty="0"/>
          </a:p>
        </p:txBody>
      </p:sp>
      <p:sp>
        <p:nvSpPr>
          <p:cNvPr id="14" name="Shape 12"/>
          <p:cNvSpPr/>
          <p:nvPr/>
        </p:nvSpPr>
        <p:spPr>
          <a:xfrm>
            <a:off x="685800" y="4005072"/>
            <a:ext cx="5120640" cy="868680"/>
          </a:xfrm>
          <a:prstGeom prst="roundRect">
            <a:avLst>
              <a:gd name="adj" fmla="val 9474"/>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5" name="Text 13"/>
          <p:cNvSpPr txBox="1"/>
          <p:nvPr/>
        </p:nvSpPr>
        <p:spPr>
          <a:xfrm>
            <a:off x="941832" y="4133088"/>
            <a:ext cx="4663440" cy="256032"/>
          </a:xfrm>
          <a:prstGeom prst="rect">
            <a:avLst/>
          </a:prstGeom>
          <a:noFill/>
          <a:ln/>
        </p:spPr>
        <p:txBody>
          <a:bodyPr wrap="square" lIns="0" tIns="0" rIns="0" bIns="0" rtlCol="0" anchor="ctr"/>
          <a:lstStyle/>
          <a:p>
            <a:pPr indent="0" marL="0">
              <a:buNone/>
            </a:pPr>
            <a:r>
              <a:rPr lang="en-US" sz="1050" spc="200" kern="0" dirty="0">
                <a:solidFill>
                  <a:srgbClr val="6F6F86"/>
                </a:solidFill>
                <a:latin typeface="Courier New" pitchFamily="34" charset="0"/>
                <a:ea typeface="Courier New" pitchFamily="34" charset="-122"/>
                <a:cs typeface="Courier New" pitchFamily="34" charset="-120"/>
              </a:rPr>
              <a:t>DOCS REPO</a:t>
            </a:r>
            <a:endParaRPr lang="en-US" sz="1050" dirty="0"/>
          </a:p>
        </p:txBody>
      </p:sp>
      <p:sp>
        <p:nvSpPr>
          <p:cNvPr id="16" name="Text 14"/>
          <p:cNvSpPr txBox="1"/>
          <p:nvPr/>
        </p:nvSpPr>
        <p:spPr>
          <a:xfrm>
            <a:off x="941832" y="4407408"/>
            <a:ext cx="4663440" cy="365760"/>
          </a:xfrm>
          <a:prstGeom prst="rect">
            <a:avLst/>
          </a:prstGeom>
          <a:noFill/>
          <a:ln/>
        </p:spPr>
        <p:txBody>
          <a:bodyPr wrap="square" lIns="0" tIns="0" rIns="0" bIns="0" rtlCol="0" anchor="ctr"/>
          <a:lstStyle/>
          <a:p>
            <a:pPr indent="0" marL="0">
              <a:buNone/>
            </a:pPr>
            <a:r>
              <a:rPr lang="en-US" sz="1500" b="1" dirty="0">
                <a:solidFill>
                  <a:srgbClr val="17E59A"/>
                </a:solidFill>
                <a:latin typeface="Calibri" pitchFamily="34" charset="0"/>
                <a:ea typeface="Calibri" pitchFamily="34" charset="-122"/>
                <a:cs typeface="Calibri" pitchFamily="34" charset="-120"/>
              </a:rPr>
              <a:t>github.com/Demiladepy/solctx-docs</a:t>
            </a:r>
            <a:endParaRPr lang="en-US" sz="1500" dirty="0"/>
          </a:p>
        </p:txBody>
      </p:sp>
      <p:sp>
        <p:nvSpPr>
          <p:cNvPr id="17" name="Shape 15"/>
          <p:cNvSpPr/>
          <p:nvPr/>
        </p:nvSpPr>
        <p:spPr>
          <a:xfrm>
            <a:off x="6080760" y="4005072"/>
            <a:ext cx="5120640" cy="868680"/>
          </a:xfrm>
          <a:prstGeom prst="roundRect">
            <a:avLst>
              <a:gd name="adj" fmla="val 9474"/>
            </a:avLst>
          </a:prstGeom>
          <a:solidFill>
            <a:srgbClr val="14141F"/>
          </a:solidFill>
          <a:ln w="12700">
            <a:solidFill>
              <a:srgbClr val="262636"/>
            </a:solidFill>
            <a:prstDash val="solid"/>
          </a:ln>
          <a:effectLst>
            <a:outerShdw sx="100000" sy="100000" kx="0" ky="0" algn="bl" rotWithShape="0" blurRad="127000" dist="38100" dir="5400000">
              <a:srgbClr val="000000">
                <a:alpha val="35000"/>
              </a:srgbClr>
            </a:outerShdw>
          </a:effectLst>
        </p:spPr>
      </p:sp>
      <p:sp>
        <p:nvSpPr>
          <p:cNvPr id="18" name="Text 16"/>
          <p:cNvSpPr txBox="1"/>
          <p:nvPr/>
        </p:nvSpPr>
        <p:spPr>
          <a:xfrm>
            <a:off x="6336792" y="4133088"/>
            <a:ext cx="4663440" cy="256032"/>
          </a:xfrm>
          <a:prstGeom prst="rect">
            <a:avLst/>
          </a:prstGeom>
          <a:noFill/>
          <a:ln/>
        </p:spPr>
        <p:txBody>
          <a:bodyPr wrap="square" lIns="0" tIns="0" rIns="0" bIns="0" rtlCol="0" anchor="ctr"/>
          <a:lstStyle/>
          <a:p>
            <a:pPr indent="0" marL="0">
              <a:buNone/>
            </a:pPr>
            <a:r>
              <a:rPr lang="en-US" sz="1050" spc="200" kern="0" dirty="0">
                <a:solidFill>
                  <a:srgbClr val="6F6F86"/>
                </a:solidFill>
                <a:latin typeface="Courier New" pitchFamily="34" charset="0"/>
                <a:ea typeface="Courier New" pitchFamily="34" charset="-122"/>
                <a:cs typeface="Courier New" pitchFamily="34" charset="-120"/>
              </a:rPr>
              <a:t>PLATFORM FINDINGS</a:t>
            </a:r>
            <a:endParaRPr lang="en-US" sz="1050" dirty="0"/>
          </a:p>
        </p:txBody>
      </p:sp>
      <p:sp>
        <p:nvSpPr>
          <p:cNvPr id="19" name="Text 17"/>
          <p:cNvSpPr txBox="1"/>
          <p:nvPr/>
        </p:nvSpPr>
        <p:spPr>
          <a:xfrm>
            <a:off x="6336792" y="4407408"/>
            <a:ext cx="4663440" cy="365760"/>
          </a:xfrm>
          <a:prstGeom prst="rect">
            <a:avLst/>
          </a:prstGeom>
          <a:noFill/>
          <a:ln/>
        </p:spPr>
        <p:txBody>
          <a:bodyPr wrap="square" lIns="0" tIns="0" rIns="0" bIns="0" rtlCol="0" anchor="ctr"/>
          <a:lstStyle/>
          <a:p>
            <a:pPr indent="0" marL="0">
              <a:buNone/>
            </a:pPr>
            <a:r>
              <a:rPr lang="en-US" sz="1500" b="1" dirty="0">
                <a:solidFill>
                  <a:srgbClr val="17E59A"/>
                </a:solidFill>
                <a:latin typeface="Calibri" pitchFamily="34" charset="0"/>
                <a:ea typeface="Calibri" pitchFamily="34" charset="-122"/>
                <a:cs typeface="Calibri" pitchFamily="34" charset="-120"/>
              </a:rPr>
              <a:t>9 bugs · repro + fixes</a:t>
            </a:r>
            <a:endParaRPr lang="en-US" sz="1500" dirty="0"/>
          </a:p>
        </p:txBody>
      </p:sp>
      <p:sp>
        <p:nvSpPr>
          <p:cNvPr id="20" name="Text 18"/>
          <p:cNvSpPr txBox="1"/>
          <p:nvPr/>
        </p:nvSpPr>
        <p:spPr>
          <a:xfrm>
            <a:off x="685800" y="5943600"/>
            <a:ext cx="10972800" cy="365760"/>
          </a:xfrm>
          <a:prstGeom prst="rect">
            <a:avLst/>
          </a:prstGeom>
          <a:noFill/>
          <a:ln/>
        </p:spPr>
        <p:txBody>
          <a:bodyPr wrap="square" lIns="0" tIns="0" rIns="0" bIns="0" rtlCol="0" anchor="ctr"/>
          <a:lstStyle/>
          <a:p>
            <a:pPr indent="0" marL="0">
              <a:buNone/>
            </a:pPr>
            <a:r>
              <a:rPr lang="en-US" sz="1500" b="1" dirty="0">
                <a:solidFill>
                  <a:srgbClr val="F3F3F8"/>
                </a:solidFill>
                <a:latin typeface="Calibri" pitchFamily="34" charset="0"/>
                <a:ea typeface="Calibri" pitchFamily="34" charset="-122"/>
                <a:cs typeface="Calibri" pitchFamily="34" charset="-120"/>
              </a:rPr>
              <a:t>DEMILADE AYEKU</a:t>
            </a:r>
            <a:pPr indent="0" marL="0">
              <a:buNone/>
            </a:pPr>
            <a:r>
              <a:rPr lang="en-US" sz="1200" dirty="0">
                <a:solidFill>
                  <a:srgbClr val="A2A2B6"/>
                </a:solidFill>
                <a:latin typeface="Courier New" pitchFamily="34" charset="0"/>
                <a:ea typeface="Courier New" pitchFamily="34" charset="-122"/>
                <a:cs typeface="Courier New" pitchFamily="34" charset="-120"/>
              </a:rPr>
              <a:t>   FULLSTACK / DEVREL   ·   Thally Sync Hackathon, Track 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solctx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solctx Pitch</dc:title>
  <dc:subject>PptxGenJS Presentation</dc:subject>
  <dc:creator>Demilade Ayeku</dc:creator>
  <cp:lastModifiedBy>Demilade Ayeku</cp:lastModifiedBy>
  <cp:revision>1</cp:revision>
  <dcterms:created xsi:type="dcterms:W3CDTF">2026-08-30T16:13:27Z</dcterms:created>
  <dcterms:modified xsi:type="dcterms:W3CDTF">2026-08-30T16:13:27Z</dcterms:modified>
</cp:coreProperties>
</file>